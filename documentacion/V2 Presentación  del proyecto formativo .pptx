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aleway"/>
      <p:regular r:id="rId45"/>
      <p:bold r:id="rId46"/>
      <p:italic r:id="rId47"/>
      <p:boldItalic r:id="rId48"/>
    </p:embeddedFont>
    <p:embeddedFont>
      <p:font typeface="Lat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3" roundtripDataSignature="AMtx7mhQnKtYUFvdazOASXOnZda8KpJ6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aleway-bold.fntdata"/><Relationship Id="rId45"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boldItalic.fntdata"/><Relationship Id="rId47" Type="http://schemas.openxmlformats.org/officeDocument/2006/relationships/font" Target="fonts/Raleway-italic.fntdata"/><Relationship Id="rId49"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italic.fntdata"/><Relationship Id="rId50" Type="http://schemas.openxmlformats.org/officeDocument/2006/relationships/font" Target="fonts/Lato-bold.fntdata"/><Relationship Id="rId53" Type="http://customschemas.google.com/relationships/presentationmetadata" Target="metadata"/><Relationship Id="rId52"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640b7bf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9640b7bfe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6815a27b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96815a27b4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6815a27b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96815a27b4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6815a27b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96815a27b4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6815a27b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96815a27b4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570ee5b5e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a570ee5b5e_3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9eee0ce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a9eee0ce3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570ee5b5e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a570ee5b5e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9eee0ce3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a9eee0ce3e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9eee0ce3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a9eee0ce3e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9eee0ce3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a9eee0ce3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df68df09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adf68df09e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df68df09e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adf68df09e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161e987db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9161e987db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161e987db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9161e987db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161e987db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9161e987db_2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df68df0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adf68df09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9161e987db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39161e987db_2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161e987db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39161e987db_2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161e987db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9161e987db_2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9161e987db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39161e987db_2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161e987db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39161e987db_2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161e987db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9161e987db_2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161e987db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9161e987db_2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161e987db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39161e987db_2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5"/>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5"/>
          <p:cNvGrpSpPr/>
          <p:nvPr/>
        </p:nvGrpSpPr>
        <p:grpSpPr>
          <a:xfrm>
            <a:off x="830392" y="1191256"/>
            <a:ext cx="745763" cy="45826"/>
            <a:chOff x="4580561" y="2589004"/>
            <a:chExt cx="1064464" cy="25200"/>
          </a:xfrm>
        </p:grpSpPr>
        <p:sp>
          <p:nvSpPr>
            <p:cNvPr id="12" name="Google Shape;12;p2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5"/>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5"/>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26"/>
          <p:cNvGrpSpPr/>
          <p:nvPr/>
        </p:nvGrpSpPr>
        <p:grpSpPr>
          <a:xfrm>
            <a:off x="830392" y="1191256"/>
            <a:ext cx="745763" cy="45826"/>
            <a:chOff x="4580561" y="2589004"/>
            <a:chExt cx="1064464" cy="25200"/>
          </a:xfrm>
        </p:grpSpPr>
        <p:sp>
          <p:nvSpPr>
            <p:cNvPr id="20" name="Google Shape;20;p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2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29"/>
          <p:cNvGrpSpPr/>
          <p:nvPr/>
        </p:nvGrpSpPr>
        <p:grpSpPr>
          <a:xfrm>
            <a:off x="830392" y="1191256"/>
            <a:ext cx="745763" cy="45826"/>
            <a:chOff x="4580561" y="2589004"/>
            <a:chExt cx="1064464" cy="25200"/>
          </a:xfrm>
        </p:grpSpPr>
        <p:sp>
          <p:nvSpPr>
            <p:cNvPr id="28" name="Google Shape;28;p2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2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27"/>
          <p:cNvGrpSpPr/>
          <p:nvPr/>
        </p:nvGrpSpPr>
        <p:grpSpPr>
          <a:xfrm>
            <a:off x="830392" y="1191256"/>
            <a:ext cx="745763" cy="45826"/>
            <a:chOff x="4580561" y="2589004"/>
            <a:chExt cx="1064464" cy="25200"/>
          </a:xfrm>
        </p:grpSpPr>
        <p:sp>
          <p:nvSpPr>
            <p:cNvPr id="36" name="Google Shape;36;p2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2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9" name="Google Shape;39;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2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28"/>
          <p:cNvGrpSpPr/>
          <p:nvPr/>
        </p:nvGrpSpPr>
        <p:grpSpPr>
          <a:xfrm>
            <a:off x="830392" y="1191256"/>
            <a:ext cx="745763" cy="45826"/>
            <a:chOff x="4580561" y="2589004"/>
            <a:chExt cx="1064464" cy="25200"/>
          </a:xfrm>
        </p:grpSpPr>
        <p:sp>
          <p:nvSpPr>
            <p:cNvPr id="43" name="Google Shape;43;p2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8"/>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28"/>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28"/>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3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30"/>
          <p:cNvGrpSpPr/>
          <p:nvPr/>
        </p:nvGrpSpPr>
        <p:grpSpPr>
          <a:xfrm>
            <a:off x="830392" y="1191256"/>
            <a:ext cx="745763" cy="45826"/>
            <a:chOff x="4580561" y="2589004"/>
            <a:chExt cx="1064464" cy="25200"/>
          </a:xfrm>
        </p:grpSpPr>
        <p:sp>
          <p:nvSpPr>
            <p:cNvPr id="52" name="Google Shape;52;p3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30"/>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30"/>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 name="Google Shape;56;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7" name="Shape 57"/>
        <p:cNvGrpSpPr/>
        <p:nvPr/>
      </p:nvGrpSpPr>
      <p:grpSpPr>
        <a:xfrm>
          <a:off x="0" y="0"/>
          <a:ext cx="0" cy="0"/>
          <a:chOff x="0" y="0"/>
          <a:chExt cx="0" cy="0"/>
        </a:xfrm>
      </p:grpSpPr>
      <p:grpSp>
        <p:nvGrpSpPr>
          <p:cNvPr id="58" name="Google Shape;58;p31"/>
          <p:cNvGrpSpPr/>
          <p:nvPr/>
        </p:nvGrpSpPr>
        <p:grpSpPr>
          <a:xfrm>
            <a:off x="830392" y="4169130"/>
            <a:ext cx="745763" cy="45826"/>
            <a:chOff x="4580561" y="2589004"/>
            <a:chExt cx="1064464" cy="25200"/>
          </a:xfrm>
        </p:grpSpPr>
        <p:sp>
          <p:nvSpPr>
            <p:cNvPr id="59" name="Google Shape;59;p3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31"/>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2" name="Google Shape;62;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3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32"/>
          <p:cNvGrpSpPr/>
          <p:nvPr/>
        </p:nvGrpSpPr>
        <p:grpSpPr>
          <a:xfrm>
            <a:off x="830392" y="1191256"/>
            <a:ext cx="745763" cy="45826"/>
            <a:chOff x="4580561" y="2589004"/>
            <a:chExt cx="1064464" cy="25200"/>
          </a:xfrm>
        </p:grpSpPr>
        <p:sp>
          <p:nvSpPr>
            <p:cNvPr id="66" name="Google Shape;66;p3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32"/>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9" name="Google Shape;69;p32"/>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0" name="Google Shape;70;p32"/>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1" name="Google Shape;71;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33"/>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4" name="Google Shape;74;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34"/>
          <p:cNvGrpSpPr/>
          <p:nvPr/>
        </p:nvGrpSpPr>
        <p:grpSpPr>
          <a:xfrm>
            <a:off x="830392" y="4169130"/>
            <a:ext cx="745763" cy="45826"/>
            <a:chOff x="4580561" y="2589004"/>
            <a:chExt cx="1064464" cy="25200"/>
          </a:xfrm>
        </p:grpSpPr>
        <p:sp>
          <p:nvSpPr>
            <p:cNvPr id="77" name="Google Shape;77;p3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34"/>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34"/>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jp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6.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balsamiq.cloud/sjeui8x/p3s6hd4"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nvSpPr>
        <p:spPr>
          <a:xfrm>
            <a:off x="2285675" y="-47675"/>
            <a:ext cx="4247100" cy="535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Presentado por:</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David Julian Choconta Quintero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Jhostin Felipe Rodriguez Vega</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Brandon Steven Piedrahita Mora</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Diego Andres Contreras Velasquez </a:t>
            </a:r>
            <a:endParaRPr b="1" i="0" sz="17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Grupo 5</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Ficha: 3278643</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SENA</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Análisis y Desarrollo De Software</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2025</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t/>
            </a:r>
            <a:endParaRPr b="1" i="0" sz="1700" u="none" cap="none" strike="noStrike">
              <a:solidFill>
                <a:schemeClr val="dk1"/>
              </a:solidFill>
              <a:latin typeface="Times New Roman"/>
              <a:ea typeface="Times New Roman"/>
              <a:cs typeface="Times New Roman"/>
              <a:sym typeface="Times New Roman"/>
            </a:endParaRPr>
          </a:p>
          <a:p>
            <a:pPr indent="457200" lvl="0" marL="0" marR="0" rtl="0" algn="ctr">
              <a:lnSpc>
                <a:spcPct val="100000"/>
              </a:lnSpc>
              <a:spcBef>
                <a:spcPts val="0"/>
              </a:spcBef>
              <a:spcAft>
                <a:spcPts val="0"/>
              </a:spcAft>
              <a:buClr>
                <a:srgbClr val="000000"/>
              </a:buClr>
              <a:buSzPts val="1300"/>
              <a:buFont typeface="Arial"/>
              <a:buNone/>
            </a:pPr>
            <a:r>
              <a:rPr b="1" i="0" lang="en" sz="1700" u="none" cap="none" strike="noStrike">
                <a:solidFill>
                  <a:schemeClr val="dk1"/>
                </a:solidFill>
                <a:latin typeface="Times New Roman"/>
                <a:ea typeface="Times New Roman"/>
                <a:cs typeface="Times New Roman"/>
                <a:sym typeface="Times New Roman"/>
              </a:rPr>
              <a:t>Bogota D.C</a:t>
            </a:r>
            <a:endParaRPr b="1" i="0" sz="1700" u="none" cap="none" strike="noStrike">
              <a:solidFill>
                <a:schemeClr val="dk1"/>
              </a:solidFill>
              <a:latin typeface="Times New Roman"/>
              <a:ea typeface="Times New Roman"/>
              <a:cs typeface="Times New Roman"/>
              <a:sym typeface="Times New Roman"/>
            </a:endParaRPr>
          </a:p>
        </p:txBody>
      </p:sp>
      <p:pic>
        <p:nvPicPr>
          <p:cNvPr descr="Gobierno SENA" id="87" name="Google Shape;87;p1"/>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Gobierno SENA" id="92" name="Google Shape;92;p2"/>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
        <p:nvSpPr>
          <p:cNvPr id="93" name="Google Shape;93;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sz="3200">
                <a:latin typeface="Lato"/>
                <a:ea typeface="Lato"/>
                <a:cs typeface="Lato"/>
                <a:sym typeface="Lato"/>
              </a:rPr>
              <a:t>ANÁLISIS Y DESARROLLO DE SOFTWARE(TIENDA DE ROPA VIRTUAL-SISTEMA DE GESTIÓN DE INVENTARIO)</a:t>
            </a:r>
            <a:endParaRPr sz="3200">
              <a:latin typeface="Lato"/>
              <a:ea typeface="Lato"/>
              <a:cs typeface="Lato"/>
              <a:sym typeface="Lato"/>
            </a:endParaRPr>
          </a:p>
        </p:txBody>
      </p:sp>
      <p:sp>
        <p:nvSpPr>
          <p:cNvPr id="94" name="Google Shape;94;p2"/>
          <p:cNvSpPr txBox="1"/>
          <p:nvPr>
            <p:ph type="title"/>
          </p:nvPr>
        </p:nvSpPr>
        <p:spPr>
          <a:xfrm>
            <a:off x="727650" y="4239000"/>
            <a:ext cx="7688700" cy="535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0" lang="en" sz="3200">
                <a:latin typeface="Lato"/>
                <a:ea typeface="Lato"/>
                <a:cs typeface="Lato"/>
                <a:sym typeface="Lato"/>
              </a:rPr>
              <a:t>Contextualización del proyecto</a:t>
            </a:r>
            <a:endParaRPr b="0" sz="32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9640b7bfef_0_0"/>
          <p:cNvSpPr txBox="1"/>
          <p:nvPr>
            <p:ph type="title"/>
          </p:nvPr>
        </p:nvSpPr>
        <p:spPr>
          <a:xfrm>
            <a:off x="395625" y="129822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00">
                <a:latin typeface="Lato"/>
                <a:ea typeface="Lato"/>
                <a:cs typeface="Lato"/>
                <a:sym typeface="Lato"/>
              </a:rPr>
              <a:t>Planteamiento del problema</a:t>
            </a:r>
            <a:endParaRPr sz="3200">
              <a:latin typeface="Lato"/>
              <a:ea typeface="Lato"/>
              <a:cs typeface="Lato"/>
              <a:sym typeface="Lato"/>
            </a:endParaRPr>
          </a:p>
        </p:txBody>
      </p:sp>
      <p:sp>
        <p:nvSpPr>
          <p:cNvPr id="100" name="Google Shape;100;g39640b7bfef_0_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2500">
                <a:solidFill>
                  <a:srgbClr val="1F1F1F"/>
                </a:solidFill>
                <a:latin typeface="Times New Roman"/>
                <a:ea typeface="Times New Roman"/>
                <a:cs typeface="Times New Roman"/>
                <a:sym typeface="Times New Roman"/>
              </a:rPr>
              <a:t>El principal problema es el manejo de inventarios y el control de las salidas de productos, ya que lo manejan todo en un cuaderno. El problema secundario es que en un mercado cada vez más digital no son conocidos, ya que no cuentan con ningún sistema de información para una mejor visualización.</a:t>
            </a:r>
            <a:endParaRPr sz="2500">
              <a:solidFill>
                <a:srgbClr val="1F1F1F"/>
              </a:solidFill>
              <a:latin typeface="Times New Roman"/>
              <a:ea typeface="Times New Roman"/>
              <a:cs typeface="Times New Roman"/>
              <a:sym typeface="Times New Roman"/>
            </a:endParaRPr>
          </a:p>
        </p:txBody>
      </p:sp>
      <p:pic>
        <p:nvPicPr>
          <p:cNvPr descr="Gobierno SENA" id="101" name="Google Shape;101;g39640b7bfef_0_0"/>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456950" y="12777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Pregunta Problema</a:t>
            </a:r>
            <a:endParaRPr sz="3240">
              <a:latin typeface="Lato"/>
              <a:ea typeface="Lato"/>
              <a:cs typeface="Lato"/>
              <a:sym typeface="Lato"/>
            </a:endParaRPr>
          </a:p>
        </p:txBody>
      </p:sp>
      <p:sp>
        <p:nvSpPr>
          <p:cNvPr id="107" name="Google Shape;107;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 sz="2500">
                <a:solidFill>
                  <a:schemeClr val="dk2"/>
                </a:solidFill>
                <a:latin typeface="Times New Roman"/>
                <a:ea typeface="Times New Roman"/>
                <a:cs typeface="Times New Roman"/>
                <a:sym typeface="Times New Roman"/>
              </a:rPr>
              <a:t>¿Cómo puede un sistema de gestión de inventarios facilitar el proceso de manejo de productos en un sistema de información,  y mejorar la visualización de la empresa?</a:t>
            </a:r>
            <a:endParaRPr sz="2500">
              <a:solidFill>
                <a:schemeClr val="dk2"/>
              </a:solidFill>
              <a:latin typeface="Times New Roman"/>
              <a:ea typeface="Times New Roman"/>
              <a:cs typeface="Times New Roman"/>
              <a:sym typeface="Times New Roman"/>
            </a:endParaRPr>
          </a:p>
        </p:txBody>
      </p:sp>
      <p:pic>
        <p:nvPicPr>
          <p:cNvPr descr="Gobierno SENA" id="108" name="Google Shape;108;p4"/>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431275" y="12920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Objetivo General</a:t>
            </a:r>
            <a:endParaRPr sz="3240">
              <a:latin typeface="Lato"/>
              <a:ea typeface="Lato"/>
              <a:cs typeface="Lato"/>
              <a:sym typeface="Lato"/>
            </a:endParaRPr>
          </a:p>
        </p:txBody>
      </p:sp>
      <p:sp>
        <p:nvSpPr>
          <p:cNvPr id="114" name="Google Shape;114;p5"/>
          <p:cNvSpPr txBox="1"/>
          <p:nvPr>
            <p:ph idx="1" type="body"/>
          </p:nvPr>
        </p:nvSpPr>
        <p:spPr>
          <a:xfrm>
            <a:off x="622025" y="1963000"/>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275"/>
              <a:buNone/>
            </a:pPr>
            <a:r>
              <a:rPr lang="en" sz="2500">
                <a:solidFill>
                  <a:schemeClr val="dk2"/>
                </a:solidFill>
                <a:latin typeface="Times New Roman"/>
                <a:ea typeface="Times New Roman"/>
                <a:cs typeface="Times New Roman"/>
                <a:sym typeface="Times New Roman"/>
              </a:rPr>
              <a:t>Desarrollar un sistema de información para la empresa de ropa shine girls que permita facilitar el proceso de gestión de inventario</a:t>
            </a:r>
            <a:r>
              <a:rPr lang="en" sz="2500">
                <a:solidFill>
                  <a:srgbClr val="000000"/>
                </a:solidFill>
                <a:latin typeface="Times New Roman"/>
                <a:ea typeface="Times New Roman"/>
                <a:cs typeface="Times New Roman"/>
                <a:sym typeface="Times New Roman"/>
              </a:rPr>
              <a:t>.</a:t>
            </a:r>
            <a:endParaRPr sz="2500">
              <a:solidFill>
                <a:schemeClr val="dk2"/>
              </a:solidFill>
              <a:latin typeface="Times New Roman"/>
              <a:ea typeface="Times New Roman"/>
              <a:cs typeface="Times New Roman"/>
              <a:sym typeface="Times New Roman"/>
            </a:endParaRPr>
          </a:p>
        </p:txBody>
      </p:sp>
      <p:pic>
        <p:nvPicPr>
          <p:cNvPr descr="Gobierno SENA" id="115" name="Google Shape;115;p5"/>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523250" y="12472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Objetivos Específicos</a:t>
            </a:r>
            <a:endParaRPr sz="3240">
              <a:latin typeface="Lato"/>
              <a:ea typeface="Lato"/>
              <a:cs typeface="Lato"/>
              <a:sym typeface="Lato"/>
            </a:endParaRPr>
          </a:p>
        </p:txBody>
      </p:sp>
      <p:sp>
        <p:nvSpPr>
          <p:cNvPr id="121" name="Google Shape;121;p6"/>
          <p:cNvSpPr txBox="1"/>
          <p:nvPr>
            <p:ph idx="1" type="body"/>
          </p:nvPr>
        </p:nvSpPr>
        <p:spPr>
          <a:xfrm>
            <a:off x="748425" y="1839350"/>
            <a:ext cx="8124000" cy="3834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300"/>
              <a:buNone/>
            </a:pPr>
            <a:r>
              <a:rPr lang="en" sz="2500">
                <a:solidFill>
                  <a:srgbClr val="000000"/>
                </a:solidFill>
                <a:latin typeface="Times New Roman"/>
                <a:ea typeface="Times New Roman"/>
                <a:cs typeface="Times New Roman"/>
                <a:sym typeface="Times New Roman"/>
              </a:rPr>
              <a:t>-El proyecto busca identificar las necesidades de la empresa de ropa y diseñar un sistema de información que organice y mejore el proceso de manejo  de inventario.</a:t>
            </a:r>
            <a:endParaRPr sz="2500">
              <a:solidFill>
                <a:srgbClr val="000000"/>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300"/>
              <a:buNone/>
            </a:pPr>
            <a:r>
              <a:t/>
            </a:r>
            <a:endParaRPr sz="2500">
              <a:solidFill>
                <a:srgbClr val="000000"/>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1300"/>
              <a:buNone/>
            </a:pPr>
            <a:r>
              <a:rPr lang="en" sz="2500">
                <a:solidFill>
                  <a:srgbClr val="000000"/>
                </a:solidFill>
                <a:latin typeface="Times New Roman"/>
                <a:ea typeface="Times New Roman"/>
                <a:cs typeface="Times New Roman"/>
                <a:sym typeface="Times New Roman"/>
              </a:rPr>
              <a:t>-realizar las pruebas necesarias para garantizar su buen funcionamiento y entregar una solución que facilite la gestión diaria de la empresa.</a:t>
            </a:r>
            <a:endParaRPr sz="250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275"/>
              <a:buNone/>
            </a:pPr>
            <a:r>
              <a:t/>
            </a:r>
            <a:endParaRPr sz="2300">
              <a:solidFill>
                <a:srgbClr val="000000"/>
              </a:solidFill>
              <a:latin typeface="Times New Roman"/>
              <a:ea typeface="Times New Roman"/>
              <a:cs typeface="Times New Roman"/>
              <a:sym typeface="Times New Roman"/>
            </a:endParaRPr>
          </a:p>
        </p:txBody>
      </p:sp>
      <p:pic>
        <p:nvPicPr>
          <p:cNvPr descr="Gobierno SENA" id="122" name="Google Shape;122;p6"/>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96815a27b4_0_16"/>
          <p:cNvSpPr txBox="1"/>
          <p:nvPr>
            <p:ph type="title"/>
          </p:nvPr>
        </p:nvSpPr>
        <p:spPr>
          <a:xfrm>
            <a:off x="502825" y="1300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Objetivos Específicos</a:t>
            </a:r>
            <a:endParaRPr sz="3240">
              <a:latin typeface="Lato"/>
              <a:ea typeface="Lato"/>
              <a:cs typeface="Lato"/>
              <a:sym typeface="Lato"/>
            </a:endParaRPr>
          </a:p>
        </p:txBody>
      </p:sp>
      <p:sp>
        <p:nvSpPr>
          <p:cNvPr id="128" name="Google Shape;128;g396815a27b4_0_16"/>
          <p:cNvSpPr txBox="1"/>
          <p:nvPr>
            <p:ph idx="1" type="body"/>
          </p:nvPr>
        </p:nvSpPr>
        <p:spPr>
          <a:xfrm>
            <a:off x="666675" y="2188200"/>
            <a:ext cx="8124000" cy="2955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275"/>
              <a:buNone/>
            </a:pPr>
            <a:r>
              <a:rPr b="1" lang="en" sz="2500">
                <a:solidFill>
                  <a:srgbClr val="000000"/>
                </a:solidFill>
                <a:latin typeface="Times New Roman"/>
                <a:ea typeface="Times New Roman"/>
                <a:cs typeface="Times New Roman"/>
                <a:sym typeface="Times New Roman"/>
              </a:rPr>
              <a:t>-visualizar un catálogo de productos</a:t>
            </a:r>
            <a:r>
              <a:rPr lang="en" sz="2500">
                <a:solidFill>
                  <a:srgbClr val="000000"/>
                </a:solidFill>
                <a:latin typeface="Times New Roman"/>
                <a:ea typeface="Times New Roman"/>
                <a:cs typeface="Times New Roman"/>
                <a:sym typeface="Times New Roman"/>
              </a:rPr>
              <a:t> de forma clara y estructurada, foto del producto descripción y precio.</a:t>
            </a:r>
            <a:endParaRPr sz="2500">
              <a:solidFill>
                <a:srgbClr val="000000"/>
              </a:solidFill>
              <a:latin typeface="Times New Roman"/>
              <a:ea typeface="Times New Roman"/>
              <a:cs typeface="Times New Roman"/>
              <a:sym typeface="Times New Roman"/>
            </a:endParaRPr>
          </a:p>
        </p:txBody>
      </p:sp>
      <p:pic>
        <p:nvPicPr>
          <p:cNvPr descr="Gobierno SENA" id="129" name="Google Shape;129;g396815a27b4_0_16"/>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403225" y="12781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Justificación</a:t>
            </a:r>
            <a:endParaRPr sz="3240">
              <a:latin typeface="Lato"/>
              <a:ea typeface="Lato"/>
              <a:cs typeface="Lato"/>
              <a:sym typeface="Lato"/>
            </a:endParaRPr>
          </a:p>
        </p:txBody>
      </p:sp>
      <p:sp>
        <p:nvSpPr>
          <p:cNvPr id="135" name="Google Shape;135;p7"/>
          <p:cNvSpPr txBox="1"/>
          <p:nvPr>
            <p:ph idx="1" type="body"/>
          </p:nvPr>
        </p:nvSpPr>
        <p:spPr>
          <a:xfrm>
            <a:off x="536325" y="1969275"/>
            <a:ext cx="7688700" cy="271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300"/>
              <a:buNone/>
            </a:pPr>
            <a:r>
              <a:rPr lang="en" sz="2500">
                <a:solidFill>
                  <a:schemeClr val="dk2"/>
                </a:solidFill>
                <a:latin typeface="Times New Roman"/>
                <a:ea typeface="Times New Roman"/>
                <a:cs typeface="Times New Roman"/>
                <a:sym typeface="Times New Roman"/>
              </a:rPr>
              <a:t>Al implementar un sistema de información para gestionar el inventario es una solución que permitirá facilitar y mejorar una organización de productos y agilizar los procesos de actualización del inventario</a:t>
            </a:r>
            <a:endParaRPr sz="2500">
              <a:solidFill>
                <a:schemeClr val="dk2"/>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SzPts val="1300"/>
              <a:buNone/>
            </a:pPr>
            <a:r>
              <a:t/>
            </a:r>
            <a:endParaRPr sz="2200">
              <a:solidFill>
                <a:schemeClr val="dk2"/>
              </a:solidFill>
              <a:latin typeface="Times New Roman"/>
              <a:ea typeface="Times New Roman"/>
              <a:cs typeface="Times New Roman"/>
              <a:sym typeface="Times New Roman"/>
            </a:endParaRPr>
          </a:p>
        </p:txBody>
      </p:sp>
      <p:pic>
        <p:nvPicPr>
          <p:cNvPr id="136" name="Google Shape;136;p7"/>
          <p:cNvPicPr preferRelativeResize="0"/>
          <p:nvPr/>
        </p:nvPicPr>
        <p:blipFill rotWithShape="1">
          <a:blip r:embed="rId3">
            <a:alphaModFix/>
          </a:blip>
          <a:srcRect b="0" l="0" r="0" t="0"/>
          <a:stretch/>
        </p:blipFill>
        <p:spPr>
          <a:xfrm flipH="1">
            <a:off x="3255675" y="4932925"/>
            <a:ext cx="17225" cy="18000"/>
          </a:xfrm>
          <a:prstGeom prst="rect">
            <a:avLst/>
          </a:prstGeom>
          <a:noFill/>
          <a:ln>
            <a:noFill/>
          </a:ln>
        </p:spPr>
      </p:pic>
      <p:pic>
        <p:nvPicPr>
          <p:cNvPr id="137" name="Google Shape;137;p7"/>
          <p:cNvPicPr preferRelativeResize="0"/>
          <p:nvPr/>
        </p:nvPicPr>
        <p:blipFill rotWithShape="1">
          <a:blip r:embed="rId3">
            <a:alphaModFix/>
          </a:blip>
          <a:srcRect b="0" l="0" r="0" t="0"/>
          <a:stretch/>
        </p:blipFill>
        <p:spPr>
          <a:xfrm flipH="1">
            <a:off x="3408075" y="5085325"/>
            <a:ext cx="17225" cy="18000"/>
          </a:xfrm>
          <a:prstGeom prst="rect">
            <a:avLst/>
          </a:prstGeom>
          <a:noFill/>
          <a:ln>
            <a:noFill/>
          </a:ln>
        </p:spPr>
      </p:pic>
      <p:pic>
        <p:nvPicPr>
          <p:cNvPr id="138" name="Google Shape;138;p7"/>
          <p:cNvPicPr preferRelativeResize="0"/>
          <p:nvPr/>
        </p:nvPicPr>
        <p:blipFill rotWithShape="1">
          <a:blip r:embed="rId3">
            <a:alphaModFix/>
          </a:blip>
          <a:srcRect b="0" l="0" r="0" t="0"/>
          <a:stretch/>
        </p:blipFill>
        <p:spPr>
          <a:xfrm flipH="1">
            <a:off x="3560475" y="5237725"/>
            <a:ext cx="17225" cy="18000"/>
          </a:xfrm>
          <a:prstGeom prst="rect">
            <a:avLst/>
          </a:prstGeom>
          <a:noFill/>
          <a:ln>
            <a:noFill/>
          </a:ln>
        </p:spPr>
      </p:pic>
      <p:pic>
        <p:nvPicPr>
          <p:cNvPr id="139" name="Google Shape;139;p7"/>
          <p:cNvPicPr preferRelativeResize="0"/>
          <p:nvPr/>
        </p:nvPicPr>
        <p:blipFill rotWithShape="1">
          <a:blip r:embed="rId3">
            <a:alphaModFix/>
          </a:blip>
          <a:srcRect b="0" l="0" r="0" t="0"/>
          <a:stretch/>
        </p:blipFill>
        <p:spPr>
          <a:xfrm flipH="1">
            <a:off x="3712875" y="5390125"/>
            <a:ext cx="17225" cy="18000"/>
          </a:xfrm>
          <a:prstGeom prst="rect">
            <a:avLst/>
          </a:prstGeom>
          <a:noFill/>
          <a:ln>
            <a:noFill/>
          </a:ln>
        </p:spPr>
      </p:pic>
      <p:pic>
        <p:nvPicPr>
          <p:cNvPr descr="Gobierno SENA" id="140" name="Google Shape;140;p7"/>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383400" y="12133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Alcance del proyecto</a:t>
            </a:r>
            <a:endParaRPr sz="3240">
              <a:latin typeface="Lato"/>
              <a:ea typeface="Lato"/>
              <a:cs typeface="Lato"/>
              <a:sym typeface="Lato"/>
            </a:endParaRPr>
          </a:p>
        </p:txBody>
      </p:sp>
      <p:sp>
        <p:nvSpPr>
          <p:cNvPr id="146" name="Google Shape;146;p8"/>
          <p:cNvSpPr txBox="1"/>
          <p:nvPr>
            <p:ph idx="1" type="body"/>
          </p:nvPr>
        </p:nvSpPr>
        <p:spPr>
          <a:xfrm>
            <a:off x="543725" y="1261025"/>
            <a:ext cx="7688700" cy="3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b="1"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lang="en" sz="2500">
                <a:solidFill>
                  <a:srgbClr val="000000"/>
                </a:solidFill>
                <a:latin typeface="Times New Roman"/>
                <a:ea typeface="Times New Roman"/>
                <a:cs typeface="Times New Roman"/>
                <a:sym typeface="Times New Roman"/>
              </a:rPr>
              <a:t>-Permitir a los usuarios crear cuentas con datos básicos como nombre, apellido, correo, contraseña y teléfono.</a:t>
            </a:r>
            <a:endParaRPr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lang="en" sz="2500">
                <a:solidFill>
                  <a:srgbClr val="000000"/>
                </a:solidFill>
                <a:latin typeface="Times New Roman"/>
                <a:ea typeface="Times New Roman"/>
                <a:cs typeface="Times New Roman"/>
                <a:sym typeface="Times New Roman"/>
              </a:rPr>
              <a:t>-Autenticación segura con encriptación de contraseña inicio y cierre de sesión.</a:t>
            </a:r>
            <a:endParaRPr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lang="en" sz="2500">
                <a:solidFill>
                  <a:srgbClr val="000000"/>
                </a:solidFill>
                <a:latin typeface="Times New Roman"/>
                <a:ea typeface="Times New Roman"/>
                <a:cs typeface="Times New Roman"/>
                <a:sym typeface="Times New Roman"/>
              </a:rPr>
              <a:t>-Recuperación de contraseña por correo.</a:t>
            </a:r>
            <a:endParaRPr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300"/>
              <a:buNone/>
            </a:pPr>
            <a:r>
              <a:t/>
            </a:r>
            <a:endParaRPr sz="2200">
              <a:solidFill>
                <a:srgbClr val="000000"/>
              </a:solidFill>
              <a:latin typeface="Times New Roman"/>
              <a:ea typeface="Times New Roman"/>
              <a:cs typeface="Times New Roman"/>
              <a:sym typeface="Times New Roman"/>
            </a:endParaRPr>
          </a:p>
        </p:txBody>
      </p:sp>
      <p:pic>
        <p:nvPicPr>
          <p:cNvPr id="147" name="Google Shape;147;p8"/>
          <p:cNvPicPr preferRelativeResize="0"/>
          <p:nvPr/>
        </p:nvPicPr>
        <p:blipFill rotWithShape="1">
          <a:blip r:embed="rId3">
            <a:alphaModFix/>
          </a:blip>
          <a:srcRect b="0" l="0" r="0" t="0"/>
          <a:stretch/>
        </p:blipFill>
        <p:spPr>
          <a:xfrm flipH="1">
            <a:off x="3255675" y="4932925"/>
            <a:ext cx="17225" cy="18000"/>
          </a:xfrm>
          <a:prstGeom prst="rect">
            <a:avLst/>
          </a:prstGeom>
          <a:noFill/>
          <a:ln>
            <a:noFill/>
          </a:ln>
        </p:spPr>
      </p:pic>
      <p:pic>
        <p:nvPicPr>
          <p:cNvPr descr="Gobierno SENA" id="148" name="Google Shape;148;p8"/>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96815a27b4_0_26"/>
          <p:cNvSpPr txBox="1"/>
          <p:nvPr>
            <p:ph type="title"/>
          </p:nvPr>
        </p:nvSpPr>
        <p:spPr>
          <a:xfrm>
            <a:off x="383400" y="12133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Alcance del proyecto</a:t>
            </a:r>
            <a:endParaRPr sz="3240">
              <a:latin typeface="Lato"/>
              <a:ea typeface="Lato"/>
              <a:cs typeface="Lato"/>
              <a:sym typeface="Lato"/>
            </a:endParaRPr>
          </a:p>
        </p:txBody>
      </p:sp>
      <p:sp>
        <p:nvSpPr>
          <p:cNvPr id="154" name="Google Shape;154;g396815a27b4_0_26"/>
          <p:cNvSpPr txBox="1"/>
          <p:nvPr>
            <p:ph idx="1" type="body"/>
          </p:nvPr>
        </p:nvSpPr>
        <p:spPr>
          <a:xfrm>
            <a:off x="591375" y="1887800"/>
            <a:ext cx="7688700" cy="3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n" sz="2500">
                <a:solidFill>
                  <a:srgbClr val="000000"/>
                </a:solidFill>
                <a:latin typeface="Times New Roman"/>
                <a:ea typeface="Times New Roman"/>
                <a:cs typeface="Times New Roman"/>
                <a:sym typeface="Times New Roman"/>
              </a:rPr>
              <a:t>-Administración de perfiles de usuario con actualización de datos personales.</a:t>
            </a:r>
            <a:endParaRPr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lang="en" sz="2500">
                <a:solidFill>
                  <a:srgbClr val="000000"/>
                </a:solidFill>
                <a:latin typeface="Times New Roman"/>
                <a:ea typeface="Times New Roman"/>
                <a:cs typeface="Times New Roman"/>
                <a:sym typeface="Times New Roman"/>
              </a:rPr>
              <a:t>-Compatibilidad multiplataforma. </a:t>
            </a:r>
            <a:endParaRPr sz="25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300"/>
              <a:buNone/>
            </a:pPr>
            <a:r>
              <a:t/>
            </a:r>
            <a:endParaRPr sz="2200">
              <a:solidFill>
                <a:srgbClr val="000000"/>
              </a:solidFill>
              <a:latin typeface="Times New Roman"/>
              <a:ea typeface="Times New Roman"/>
              <a:cs typeface="Times New Roman"/>
              <a:sym typeface="Times New Roman"/>
            </a:endParaRPr>
          </a:p>
        </p:txBody>
      </p:sp>
      <p:pic>
        <p:nvPicPr>
          <p:cNvPr id="155" name="Google Shape;155;g396815a27b4_0_26"/>
          <p:cNvPicPr preferRelativeResize="0"/>
          <p:nvPr/>
        </p:nvPicPr>
        <p:blipFill rotWithShape="1">
          <a:blip r:embed="rId3">
            <a:alphaModFix/>
          </a:blip>
          <a:srcRect b="0" l="0" r="0" t="0"/>
          <a:stretch/>
        </p:blipFill>
        <p:spPr>
          <a:xfrm flipH="1">
            <a:off x="3255675" y="4932925"/>
            <a:ext cx="17225" cy="18000"/>
          </a:xfrm>
          <a:prstGeom prst="rect">
            <a:avLst/>
          </a:prstGeom>
          <a:noFill/>
          <a:ln>
            <a:noFill/>
          </a:ln>
        </p:spPr>
      </p:pic>
      <p:pic>
        <p:nvPicPr>
          <p:cNvPr descr="Gobierno SENA" id="156" name="Google Shape;156;g396815a27b4_0_26"/>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idx="1" type="body"/>
          </p:nvPr>
        </p:nvSpPr>
        <p:spPr>
          <a:xfrm>
            <a:off x="359775" y="1194275"/>
            <a:ext cx="8311800" cy="57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89"/>
              <a:buNone/>
            </a:pPr>
            <a:r>
              <a:rPr b="1" lang="en" sz="3200">
                <a:solidFill>
                  <a:schemeClr val="dk2"/>
                </a:solidFill>
              </a:rPr>
              <a:t>Módulo de Gestión de usuarios</a:t>
            </a:r>
            <a:endParaRPr sz="3200">
              <a:solidFill>
                <a:srgbClr val="000000"/>
              </a:solidFill>
            </a:endParaRPr>
          </a:p>
          <a:p>
            <a:pPr indent="0" lvl="0" marL="0" rtl="0" algn="l">
              <a:lnSpc>
                <a:spcPct val="100000"/>
              </a:lnSpc>
              <a:spcBef>
                <a:spcPts val="0"/>
              </a:spcBef>
              <a:spcAft>
                <a:spcPts val="0"/>
              </a:spcAft>
              <a:buClr>
                <a:srgbClr val="000000"/>
              </a:buClr>
              <a:buSzPts val="2889"/>
              <a:buFont typeface="Arial"/>
              <a:buNone/>
            </a:pPr>
            <a:r>
              <a:t/>
            </a:r>
            <a:endParaRPr sz="1800">
              <a:solidFill>
                <a:srgbClr val="000000"/>
              </a:solidFill>
              <a:latin typeface="Times New Roman"/>
              <a:ea typeface="Times New Roman"/>
              <a:cs typeface="Times New Roman"/>
              <a:sym typeface="Times New Roman"/>
            </a:endParaRPr>
          </a:p>
        </p:txBody>
      </p:sp>
      <p:pic>
        <p:nvPicPr>
          <p:cNvPr descr="Gobierno SENA" id="162" name="Google Shape;162;p9"/>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
        <p:nvSpPr>
          <p:cNvPr id="163" name="Google Shape;163;p9"/>
          <p:cNvSpPr txBox="1"/>
          <p:nvPr/>
        </p:nvSpPr>
        <p:spPr>
          <a:xfrm>
            <a:off x="908625" y="2073550"/>
            <a:ext cx="6809400" cy="145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500"/>
              <a:buFont typeface="Arial"/>
              <a:buNone/>
            </a:pPr>
            <a:r>
              <a:rPr b="0" i="0" lang="en" sz="2500" u="none" cap="none" strike="noStrike">
                <a:solidFill>
                  <a:srgbClr val="000000"/>
                </a:solidFill>
                <a:latin typeface="Times New Roman"/>
                <a:ea typeface="Times New Roman"/>
                <a:cs typeface="Times New Roman"/>
                <a:sym typeface="Times New Roman"/>
              </a:rPr>
              <a:t> El módulo de Gestión usuarios permite que los usuarios   registrarse, iniciar sesión, editar su información y puedan eliminar su información.</a:t>
            </a:r>
            <a:endParaRPr b="0"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nvSpPr>
        <p:spPr>
          <a:xfrm>
            <a:off x="306550" y="1156200"/>
            <a:ext cx="68187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chemeClr val="dk2"/>
                </a:solidFill>
                <a:latin typeface="Lato"/>
                <a:ea typeface="Lato"/>
                <a:cs typeface="Lato"/>
                <a:sym typeface="Lato"/>
              </a:rPr>
              <a:t>Módulo de Gestión de productos</a:t>
            </a:r>
            <a:endParaRPr b="1" i="0" sz="3200" u="none" cap="none" strike="noStrike">
              <a:solidFill>
                <a:schemeClr val="dk2"/>
              </a:solidFill>
              <a:latin typeface="Lato"/>
              <a:ea typeface="Lato"/>
              <a:cs typeface="Lato"/>
              <a:sym typeface="Lato"/>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descr="Gobierno SENA" id="169" name="Google Shape;169;p11"/>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
        <p:nvSpPr>
          <p:cNvPr id="170" name="Google Shape;170;p11"/>
          <p:cNvSpPr txBox="1"/>
          <p:nvPr/>
        </p:nvSpPr>
        <p:spPr>
          <a:xfrm>
            <a:off x="1036800" y="2019050"/>
            <a:ext cx="67356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Times New Roman"/>
                <a:ea typeface="Times New Roman"/>
                <a:cs typeface="Times New Roman"/>
                <a:sym typeface="Times New Roman"/>
              </a:rPr>
              <a:t>El catálogo de productos permite la gestión de productos, la salida de productos, quien la realiza, y la fecha en que se se realiza, también registrar  proveedores y que productos ingresan y cuales productos nos suministran. Los clientes podrán agregar productos favoritos, si están disponibles, que precio tienen, etc.</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96815a27b4_0_33"/>
          <p:cNvSpPr txBox="1"/>
          <p:nvPr/>
        </p:nvSpPr>
        <p:spPr>
          <a:xfrm>
            <a:off x="333825" y="1280750"/>
            <a:ext cx="6846000" cy="125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40"/>
              <a:buFont typeface="Arial"/>
              <a:buNone/>
            </a:pPr>
            <a:r>
              <a:rPr b="1" i="0" lang="en" sz="3240" u="none" cap="none" strike="noStrike">
                <a:solidFill>
                  <a:schemeClr val="dk2"/>
                </a:solidFill>
                <a:latin typeface="Lato"/>
                <a:ea typeface="Lato"/>
                <a:cs typeface="Lato"/>
                <a:sym typeface="Lato"/>
              </a:rPr>
              <a:t>Módulo de Productos favoritos</a:t>
            </a:r>
            <a:endParaRPr b="1" i="0" sz="3240" u="none" cap="none" strike="noStrike">
              <a:solidFill>
                <a:schemeClr val="dk2"/>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descr="Gobierno SENA" id="176" name="Google Shape;176;g396815a27b4_0_33"/>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
        <p:nvSpPr>
          <p:cNvPr id="177" name="Google Shape;177;g396815a27b4_0_33"/>
          <p:cNvSpPr txBox="1"/>
          <p:nvPr/>
        </p:nvSpPr>
        <p:spPr>
          <a:xfrm>
            <a:off x="651975" y="2284725"/>
            <a:ext cx="62097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2500"/>
              <a:buFont typeface="Arial"/>
              <a:buNone/>
            </a:pPr>
            <a:r>
              <a:rPr b="0" i="0" lang="en" sz="2500" u="none" cap="none" strike="noStrike">
                <a:solidFill>
                  <a:srgbClr val="000000"/>
                </a:solidFill>
                <a:latin typeface="Times New Roman"/>
                <a:ea typeface="Times New Roman"/>
                <a:cs typeface="Times New Roman"/>
                <a:sym typeface="Times New Roman"/>
              </a:rPr>
              <a:t>El módulo de Productos favoritos se usa para que los clientes agreguen sus productos favoritos y los administradores puedan ver cuales son sus productos más solicitados.</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96815a27b4_0_38"/>
          <p:cNvSpPr txBox="1"/>
          <p:nvPr>
            <p:ph idx="1" type="body"/>
          </p:nvPr>
        </p:nvSpPr>
        <p:spPr>
          <a:xfrm>
            <a:off x="336450" y="651300"/>
            <a:ext cx="8902800" cy="104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t/>
            </a:r>
            <a:endParaRPr sz="22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b="1" lang="en" sz="3200">
                <a:solidFill>
                  <a:schemeClr val="dk2"/>
                </a:solidFill>
              </a:rPr>
              <a:t>Módulo de proveedores</a:t>
            </a:r>
            <a:endParaRPr b="1" sz="3200">
              <a:solidFill>
                <a:schemeClr val="dk2"/>
              </a:solidFill>
            </a:endParaRPr>
          </a:p>
          <a:p>
            <a:pPr indent="0" lvl="0" marL="0" rtl="0" algn="l">
              <a:lnSpc>
                <a:spcPct val="115000"/>
              </a:lnSpc>
              <a:spcBef>
                <a:spcPts val="1200"/>
              </a:spcBef>
              <a:spcAft>
                <a:spcPts val="0"/>
              </a:spcAft>
              <a:buSzPts val="1300"/>
              <a:buNone/>
            </a:pPr>
            <a:r>
              <a:t/>
            </a:r>
            <a:endParaRPr b="1" sz="26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300"/>
              <a:buNone/>
            </a:pPr>
            <a:r>
              <a:t/>
            </a:r>
            <a:endParaRPr sz="1400">
              <a:solidFill>
                <a:srgbClr val="000000"/>
              </a:solidFill>
              <a:latin typeface="Times New Roman"/>
              <a:ea typeface="Times New Roman"/>
              <a:cs typeface="Times New Roman"/>
              <a:sym typeface="Times New Roman"/>
            </a:endParaRPr>
          </a:p>
        </p:txBody>
      </p:sp>
      <p:pic>
        <p:nvPicPr>
          <p:cNvPr descr="Gobierno SENA" id="183" name="Google Shape;183;g396815a27b4_0_38"/>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
        <p:nvSpPr>
          <p:cNvPr id="184" name="Google Shape;184;g396815a27b4_0_38"/>
          <p:cNvSpPr txBox="1"/>
          <p:nvPr/>
        </p:nvSpPr>
        <p:spPr>
          <a:xfrm>
            <a:off x="656550" y="1964550"/>
            <a:ext cx="8262600" cy="3559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0" i="0" lang="en" sz="2500" u="none" cap="none" strike="noStrike">
                <a:solidFill>
                  <a:srgbClr val="000000"/>
                </a:solidFill>
                <a:latin typeface="Times New Roman"/>
                <a:ea typeface="Times New Roman"/>
                <a:cs typeface="Times New Roman"/>
                <a:sym typeface="Times New Roman"/>
              </a:rPr>
              <a:t>El módulo de proveedores ayuda a editar y guardar los datos de las empresas que le suministran los productos a la Shine Girls. Ahí se pueden guardar sus datos básicos, saber qué productos trae cada uno y revisarlos cuando sea necesario hacer un nuevo pedido. La idea es que el la empresa pueda llevar un mejor control de dónde viene la mercancía y evitar quedarse sin stock.</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a570ee5b5e_3_4"/>
          <p:cNvSpPr txBox="1"/>
          <p:nvPr>
            <p:ph idx="1" type="body"/>
          </p:nvPr>
        </p:nvSpPr>
        <p:spPr>
          <a:xfrm>
            <a:off x="5215575" y="4611575"/>
            <a:ext cx="4255500" cy="48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n" sz="1600" u="sng">
                <a:solidFill>
                  <a:srgbClr val="4A86E8"/>
                </a:solidFill>
                <a:latin typeface="Times New Roman"/>
                <a:ea typeface="Times New Roman"/>
                <a:cs typeface="Times New Roman"/>
                <a:sym typeface="Times New Roman"/>
              </a:rPr>
              <a:t>https://forms.gle/MLmwtGdFUbRhaFoA8</a:t>
            </a:r>
            <a:endParaRPr sz="1600" u="sng">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1800">
              <a:solidFill>
                <a:srgbClr val="000000"/>
              </a:solidFill>
              <a:latin typeface="Times New Roman"/>
              <a:ea typeface="Times New Roman"/>
              <a:cs typeface="Times New Roman"/>
              <a:sym typeface="Times New Roman"/>
            </a:endParaRPr>
          </a:p>
        </p:txBody>
      </p:sp>
      <p:pic>
        <p:nvPicPr>
          <p:cNvPr descr="Forms response chart. Question title: ¿Utilizan herramientas online para mantener su stock al dia?. Number of responses: 4 responses." id="190" name="Google Shape;190;g3a570ee5b5e_3_4" title="¿Utilizan herramientas online para mantener su stock al dia?"/>
          <p:cNvPicPr preferRelativeResize="0"/>
          <p:nvPr/>
        </p:nvPicPr>
        <p:blipFill rotWithShape="1">
          <a:blip r:embed="rId3">
            <a:alphaModFix/>
          </a:blip>
          <a:srcRect b="0" l="0" r="0" t="0"/>
          <a:stretch/>
        </p:blipFill>
        <p:spPr>
          <a:xfrm>
            <a:off x="0" y="1245225"/>
            <a:ext cx="4803200" cy="2653051"/>
          </a:xfrm>
          <a:prstGeom prst="rect">
            <a:avLst/>
          </a:prstGeom>
          <a:noFill/>
          <a:ln>
            <a:noFill/>
          </a:ln>
        </p:spPr>
      </p:pic>
      <p:pic>
        <p:nvPicPr>
          <p:cNvPr descr="Forms response chart. Question title: En el sistema de gestión actual que manejas, ¿Se presentan errores comúnmente?. Number of responses: 4 responses." id="191" name="Google Shape;191;g3a570ee5b5e_3_4" title="En el sistema de gestión actual que manejas, ¿Se presentan errores comúnmente?"/>
          <p:cNvPicPr preferRelativeResize="0"/>
          <p:nvPr/>
        </p:nvPicPr>
        <p:blipFill rotWithShape="1">
          <a:blip r:embed="rId4">
            <a:alphaModFix/>
          </a:blip>
          <a:srcRect b="0" l="0" r="0" t="0"/>
          <a:stretch/>
        </p:blipFill>
        <p:spPr>
          <a:xfrm>
            <a:off x="4340800" y="1336325"/>
            <a:ext cx="4803200" cy="2561950"/>
          </a:xfrm>
          <a:prstGeom prst="rect">
            <a:avLst/>
          </a:prstGeom>
          <a:noFill/>
          <a:ln>
            <a:noFill/>
          </a:ln>
        </p:spPr>
      </p:pic>
      <p:sp>
        <p:nvSpPr>
          <p:cNvPr id="192" name="Google Shape;192;g3a570ee5b5e_3_4"/>
          <p:cNvSpPr txBox="1"/>
          <p:nvPr/>
        </p:nvSpPr>
        <p:spPr>
          <a:xfrm>
            <a:off x="1705350" y="579900"/>
            <a:ext cx="7575000"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chemeClr val="dk2"/>
                </a:solidFill>
                <a:latin typeface="Lato"/>
                <a:ea typeface="Lato"/>
                <a:cs typeface="Lato"/>
                <a:sym typeface="Lato"/>
              </a:rPr>
              <a:t>Recolección de información</a:t>
            </a:r>
            <a:endParaRPr b="1" i="0" sz="3200" u="none" cap="none" strike="noStrike">
              <a:solidFill>
                <a:schemeClr val="dk2"/>
              </a:solidFill>
              <a:latin typeface="Lato"/>
              <a:ea typeface="Lato"/>
              <a:cs typeface="Lato"/>
              <a:sym typeface="Lato"/>
            </a:endParaRPr>
          </a:p>
        </p:txBody>
      </p:sp>
      <p:pic>
        <p:nvPicPr>
          <p:cNvPr descr="Gobierno SENA" id="193" name="Google Shape;193;g3a570ee5b5e_3_4"/>
          <p:cNvPicPr preferRelativeResize="0"/>
          <p:nvPr/>
        </p:nvPicPr>
        <p:blipFill rotWithShape="1">
          <a:blip r:embed="rId5">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descr="Forms response chart. Question title:   ¿Ha tenido inconvenientes con clientes al no poseer un sitio web(catalogo digital) para ver los productos disponibles sin necesidad de ir a la tienda?  . Number of responses: 4 responses." id="198" name="Google Shape;198;g3a9eee0ce3e_0_6" title="  ¿Ha tenido inconvenientes con clientes al no poseer un sitio web(catalogo digital) para ver los productos disponibles sin necesidad de ir a la tienda?  "/>
          <p:cNvPicPr preferRelativeResize="0"/>
          <p:nvPr/>
        </p:nvPicPr>
        <p:blipFill rotWithShape="1">
          <a:blip r:embed="rId3">
            <a:alphaModFix/>
          </a:blip>
          <a:srcRect b="0" l="0" r="0" t="0"/>
          <a:stretch/>
        </p:blipFill>
        <p:spPr>
          <a:xfrm>
            <a:off x="209113" y="1363050"/>
            <a:ext cx="4863949" cy="2206349"/>
          </a:xfrm>
          <a:prstGeom prst="rect">
            <a:avLst/>
          </a:prstGeom>
          <a:noFill/>
          <a:ln>
            <a:noFill/>
          </a:ln>
        </p:spPr>
      </p:pic>
      <p:pic>
        <p:nvPicPr>
          <p:cNvPr descr="Forms response chart. Question title: En caso de no conocer la dispinibilidad de tallas prendas y colores ¿Se demora mucho en conseguir la información para el cliente?. Number of responses: 4 responses." id="199" name="Google Shape;199;g3a9eee0ce3e_0_6" title="En caso de no conocer la dispinibilidad de tallas prendas y colores ¿Se demora mucho en conseguir la información para el cliente?"/>
          <p:cNvPicPr preferRelativeResize="0"/>
          <p:nvPr/>
        </p:nvPicPr>
        <p:blipFill rotWithShape="1">
          <a:blip r:embed="rId4">
            <a:alphaModFix/>
          </a:blip>
          <a:srcRect b="0" l="0" r="0" t="0"/>
          <a:stretch/>
        </p:blipFill>
        <p:spPr>
          <a:xfrm>
            <a:off x="4877188" y="2310375"/>
            <a:ext cx="4134077" cy="2522374"/>
          </a:xfrm>
          <a:prstGeom prst="rect">
            <a:avLst/>
          </a:prstGeom>
          <a:noFill/>
          <a:ln>
            <a:noFill/>
          </a:ln>
        </p:spPr>
      </p:pic>
      <p:pic>
        <p:nvPicPr>
          <p:cNvPr descr="Gobierno SENA" id="200" name="Google Shape;200;g3a9eee0ce3e_0_6"/>
          <p:cNvPicPr preferRelativeResize="0"/>
          <p:nvPr/>
        </p:nvPicPr>
        <p:blipFill rotWithShape="1">
          <a:blip r:embed="rId5">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g3a570ee5b5e_3_9"/>
          <p:cNvPicPr preferRelativeResize="0"/>
          <p:nvPr/>
        </p:nvPicPr>
        <p:blipFill rotWithShape="1">
          <a:blip r:embed="rId3">
            <a:alphaModFix/>
          </a:blip>
          <a:srcRect b="0" l="0" r="0" t="0"/>
          <a:stretch/>
        </p:blipFill>
        <p:spPr>
          <a:xfrm>
            <a:off x="2655463" y="993300"/>
            <a:ext cx="3628814" cy="3970925"/>
          </a:xfrm>
          <a:prstGeom prst="rect">
            <a:avLst/>
          </a:prstGeom>
          <a:noFill/>
          <a:ln>
            <a:noFill/>
          </a:ln>
        </p:spPr>
      </p:pic>
      <p:sp>
        <p:nvSpPr>
          <p:cNvPr id="206" name="Google Shape;206;g3a570ee5b5e_3_9"/>
          <p:cNvSpPr txBox="1"/>
          <p:nvPr>
            <p:ph idx="1" type="body"/>
          </p:nvPr>
        </p:nvSpPr>
        <p:spPr>
          <a:xfrm>
            <a:off x="5645550" y="4622325"/>
            <a:ext cx="4255500" cy="489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1018"/>
              <a:buNone/>
            </a:pPr>
            <a:r>
              <a:rPr lang="en" sz="1600" u="sng">
                <a:solidFill>
                  <a:srgbClr val="4A86E8"/>
                </a:solidFill>
                <a:latin typeface="Times New Roman"/>
                <a:ea typeface="Times New Roman"/>
                <a:cs typeface="Times New Roman"/>
                <a:sym typeface="Times New Roman"/>
              </a:rPr>
              <a:t>https://forms.gle/WXKWfYzsx8obUvAz8</a:t>
            </a:r>
            <a:endParaRPr sz="1800">
              <a:solidFill>
                <a:srgbClr val="000000"/>
              </a:solidFill>
              <a:latin typeface="Times New Roman"/>
              <a:ea typeface="Times New Roman"/>
              <a:cs typeface="Times New Roman"/>
              <a:sym typeface="Times New Roman"/>
            </a:endParaRPr>
          </a:p>
        </p:txBody>
      </p:sp>
      <p:pic>
        <p:nvPicPr>
          <p:cNvPr descr="Gobierno SENA" id="207" name="Google Shape;207;g3a570ee5b5e_3_9"/>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
        <p:nvSpPr>
          <p:cNvPr id="208" name="Google Shape;208;g3a570ee5b5e_3_9"/>
          <p:cNvSpPr txBox="1"/>
          <p:nvPr/>
        </p:nvSpPr>
        <p:spPr>
          <a:xfrm>
            <a:off x="1977850" y="327825"/>
            <a:ext cx="7575000"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chemeClr val="dk2"/>
                </a:solidFill>
                <a:latin typeface="Lato"/>
                <a:ea typeface="Lato"/>
                <a:cs typeface="Lato"/>
                <a:sym typeface="Lato"/>
              </a:rPr>
              <a:t>Cuestionario dueño</a:t>
            </a:r>
            <a:endParaRPr b="1" i="0" sz="3200" u="none" cap="none" strike="noStrike">
              <a:solidFill>
                <a:schemeClr val="dk2"/>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g3a9eee0ce3e_0_23"/>
          <p:cNvPicPr preferRelativeResize="0"/>
          <p:nvPr/>
        </p:nvPicPr>
        <p:blipFill rotWithShape="1">
          <a:blip r:embed="rId3">
            <a:alphaModFix/>
          </a:blip>
          <a:srcRect b="0" l="0" r="0" t="0"/>
          <a:stretch/>
        </p:blipFill>
        <p:spPr>
          <a:xfrm>
            <a:off x="2302250" y="304800"/>
            <a:ext cx="4337629" cy="4838699"/>
          </a:xfrm>
          <a:prstGeom prst="rect">
            <a:avLst/>
          </a:prstGeom>
          <a:noFill/>
          <a:ln>
            <a:noFill/>
          </a:ln>
        </p:spPr>
      </p:pic>
      <p:pic>
        <p:nvPicPr>
          <p:cNvPr descr="Gobierno SENA" id="214" name="Google Shape;214;g3a9eee0ce3e_0_23"/>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9eee0ce3e_0_39"/>
          <p:cNvSpPr txBox="1"/>
          <p:nvPr>
            <p:ph idx="1" type="body"/>
          </p:nvPr>
        </p:nvSpPr>
        <p:spPr>
          <a:xfrm>
            <a:off x="363675" y="1768675"/>
            <a:ext cx="8587200" cy="357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n" sz="2300">
                <a:solidFill>
                  <a:srgbClr val="000000"/>
                </a:solidFill>
                <a:latin typeface="Times New Roman"/>
                <a:ea typeface="Times New Roman"/>
                <a:cs typeface="Times New Roman"/>
                <a:sym typeface="Times New Roman"/>
              </a:rPr>
              <a:t>Después de analizar las dos encuestas empleado y dueño, se identifica la ausencia de una plataforma online que permite mantener los datos al día sobre stock en la empresa de ropa, lo que alarga los procesos de verificación de ventas realizadas y productos comprados.</a:t>
            </a:r>
            <a:endParaRPr sz="23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300"/>
              <a:buNone/>
            </a:pPr>
            <a:r>
              <a:rPr lang="en" sz="2300">
                <a:solidFill>
                  <a:srgbClr val="000000"/>
                </a:solidFill>
                <a:latin typeface="Times New Roman"/>
                <a:ea typeface="Times New Roman"/>
                <a:cs typeface="Times New Roman"/>
                <a:sym typeface="Times New Roman"/>
              </a:rPr>
              <a:t>Además acorde a la encuesta para los clientes se identifica que la mayoría de los usuarios confía  en compras online y prioriza las tiendas con sistemas de venta en internet siendo un factor determinante a la hora de comprar.</a:t>
            </a:r>
            <a:endParaRPr sz="230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1800">
              <a:solidFill>
                <a:srgbClr val="000000"/>
              </a:solidFill>
              <a:latin typeface="Times New Roman"/>
              <a:ea typeface="Times New Roman"/>
              <a:cs typeface="Times New Roman"/>
              <a:sym typeface="Times New Roman"/>
            </a:endParaRPr>
          </a:p>
        </p:txBody>
      </p:sp>
      <p:sp>
        <p:nvSpPr>
          <p:cNvPr id="220" name="Google Shape;220;g3a9eee0ce3e_0_39"/>
          <p:cNvSpPr txBox="1"/>
          <p:nvPr/>
        </p:nvSpPr>
        <p:spPr>
          <a:xfrm>
            <a:off x="207000" y="1199850"/>
            <a:ext cx="7575000"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chemeClr val="dk2"/>
                </a:solidFill>
                <a:latin typeface="Lato"/>
                <a:ea typeface="Lato"/>
                <a:cs typeface="Lato"/>
                <a:sym typeface="Lato"/>
              </a:rPr>
              <a:t>Conclusión cuestionario</a:t>
            </a:r>
            <a:endParaRPr b="1" i="0" sz="3200" u="none" cap="none" strike="noStrike">
              <a:solidFill>
                <a:schemeClr val="dk2"/>
              </a:solidFill>
              <a:latin typeface="Lato"/>
              <a:ea typeface="Lato"/>
              <a:cs typeface="Lato"/>
              <a:sym typeface="Lato"/>
            </a:endParaRPr>
          </a:p>
        </p:txBody>
      </p:sp>
      <p:pic>
        <p:nvPicPr>
          <p:cNvPr descr="Gobierno SENA" id="221" name="Google Shape;221;g3a9eee0ce3e_0_39"/>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9eee0ce3e_0_29"/>
          <p:cNvSpPr txBox="1"/>
          <p:nvPr/>
        </p:nvSpPr>
        <p:spPr>
          <a:xfrm>
            <a:off x="2296125" y="2571750"/>
            <a:ext cx="447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rgbClr val="4A86E8"/>
                </a:solidFill>
                <a:latin typeface="Arial"/>
                <a:ea typeface="Arial"/>
                <a:cs typeface="Arial"/>
                <a:sym typeface="Arial"/>
              </a:rPr>
              <a:t>https://forms.gle/UAqamZ5LB1D44s7K8</a:t>
            </a:r>
            <a:endParaRPr b="0" i="0" sz="1400" u="sng" cap="none" strike="noStrike">
              <a:solidFill>
                <a:srgbClr val="4A86E8"/>
              </a:solidFill>
              <a:latin typeface="Arial"/>
              <a:ea typeface="Arial"/>
              <a:cs typeface="Arial"/>
              <a:sym typeface="Arial"/>
            </a:endParaRPr>
          </a:p>
        </p:txBody>
      </p:sp>
      <p:sp>
        <p:nvSpPr>
          <p:cNvPr id="227" name="Google Shape;227;g3a9eee0ce3e_0_29"/>
          <p:cNvSpPr txBox="1"/>
          <p:nvPr/>
        </p:nvSpPr>
        <p:spPr>
          <a:xfrm>
            <a:off x="207000" y="1199850"/>
            <a:ext cx="7575000"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chemeClr val="dk2"/>
                </a:solidFill>
                <a:latin typeface="Lato"/>
                <a:ea typeface="Lato"/>
                <a:cs typeface="Lato"/>
                <a:sym typeface="Lato"/>
              </a:rPr>
              <a:t>Cuestionario clientes</a:t>
            </a:r>
            <a:endParaRPr b="1" i="0" sz="3200" u="none" cap="none" strike="noStrike">
              <a:solidFill>
                <a:schemeClr val="dk2"/>
              </a:solidFill>
              <a:latin typeface="Lato"/>
              <a:ea typeface="Lato"/>
              <a:cs typeface="Lato"/>
              <a:sym typeface="Lato"/>
            </a:endParaRPr>
          </a:p>
        </p:txBody>
      </p:sp>
      <p:pic>
        <p:nvPicPr>
          <p:cNvPr descr="Gobierno SENA" id="228" name="Google Shape;228;g3a9eee0ce3e_0_29"/>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adf68df09e_3_0"/>
          <p:cNvSpPr txBox="1"/>
          <p:nvPr>
            <p:ph type="title"/>
          </p:nvPr>
        </p:nvSpPr>
        <p:spPr>
          <a:xfrm>
            <a:off x="218625" y="108807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3240">
                <a:latin typeface="Lato"/>
                <a:ea typeface="Lato"/>
                <a:cs typeface="Lato"/>
                <a:sym typeface="Lato"/>
              </a:rPr>
              <a:t>Requisitos Funcionales (RF)</a:t>
            </a:r>
            <a:endParaRPr sz="3240">
              <a:latin typeface="Lato"/>
              <a:ea typeface="Lato"/>
              <a:cs typeface="Lato"/>
              <a:sym typeface="Lato"/>
            </a:endParaRPr>
          </a:p>
        </p:txBody>
      </p:sp>
      <p:sp>
        <p:nvSpPr>
          <p:cNvPr id="234" name="Google Shape;234;g3adf68df09e_3_0"/>
          <p:cNvSpPr txBox="1"/>
          <p:nvPr>
            <p:ph idx="1" type="body"/>
          </p:nvPr>
        </p:nvSpPr>
        <p:spPr>
          <a:xfrm>
            <a:off x="829775" y="1645500"/>
            <a:ext cx="3157500" cy="349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RF01.</a:t>
            </a:r>
            <a:r>
              <a:rPr lang="en" sz="1400">
                <a:solidFill>
                  <a:srgbClr val="000000"/>
                </a:solidFill>
                <a:latin typeface="Times New Roman"/>
                <a:ea typeface="Times New Roman"/>
                <a:cs typeface="Times New Roman"/>
                <a:sym typeface="Times New Roman"/>
              </a:rPr>
              <a:t> Autenticación de Usuario</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RF02.</a:t>
            </a:r>
            <a:r>
              <a:rPr lang="en" sz="1400">
                <a:solidFill>
                  <a:srgbClr val="000000"/>
                </a:solidFill>
                <a:latin typeface="Times New Roman"/>
                <a:ea typeface="Times New Roman"/>
                <a:cs typeface="Times New Roman"/>
                <a:sym typeface="Times New Roman"/>
              </a:rPr>
              <a:t> Registro de Usuarios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RF03.</a:t>
            </a:r>
            <a:r>
              <a:rPr lang="en" sz="1400">
                <a:solidFill>
                  <a:srgbClr val="000000"/>
                </a:solidFill>
                <a:latin typeface="Times New Roman"/>
                <a:ea typeface="Times New Roman"/>
                <a:cs typeface="Times New Roman"/>
                <a:sym typeface="Times New Roman"/>
              </a:rPr>
              <a:t> Gestión de Roles y Permisos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RF04.</a:t>
            </a:r>
            <a:r>
              <a:rPr lang="en" sz="1400">
                <a:solidFill>
                  <a:srgbClr val="000000"/>
                </a:solidFill>
                <a:latin typeface="Times New Roman"/>
                <a:ea typeface="Times New Roman"/>
                <a:cs typeface="Times New Roman"/>
                <a:sym typeface="Times New Roman"/>
              </a:rPr>
              <a:t> Recuperación de Contraseña</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RF05.</a:t>
            </a:r>
            <a:r>
              <a:rPr lang="en" sz="1400">
                <a:solidFill>
                  <a:srgbClr val="000000"/>
                </a:solidFill>
                <a:latin typeface="Times New Roman"/>
                <a:ea typeface="Times New Roman"/>
                <a:cs typeface="Times New Roman"/>
                <a:sym typeface="Times New Roman"/>
              </a:rPr>
              <a:t> Perfil de Usuario y Direcciones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RF06.</a:t>
            </a:r>
            <a:r>
              <a:rPr lang="en" sz="1400">
                <a:solidFill>
                  <a:srgbClr val="000000"/>
                </a:solidFill>
                <a:latin typeface="Times New Roman"/>
                <a:ea typeface="Times New Roman"/>
                <a:cs typeface="Times New Roman"/>
                <a:sym typeface="Times New Roman"/>
              </a:rPr>
              <a:t> Gestión de Productos (CRUD)</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RF07.</a:t>
            </a:r>
            <a:r>
              <a:rPr lang="en" sz="1400">
                <a:solidFill>
                  <a:srgbClr val="000000"/>
                </a:solidFill>
                <a:latin typeface="Times New Roman"/>
                <a:ea typeface="Times New Roman"/>
                <a:cs typeface="Times New Roman"/>
                <a:sym typeface="Times New Roman"/>
              </a:rPr>
              <a:t> Inventario y Stock en Tiempo Real</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RF08.</a:t>
            </a:r>
            <a:r>
              <a:rPr lang="en" sz="1400">
                <a:solidFill>
                  <a:srgbClr val="000000"/>
                </a:solidFill>
                <a:latin typeface="Times New Roman"/>
                <a:ea typeface="Times New Roman"/>
                <a:cs typeface="Times New Roman"/>
                <a:sym typeface="Times New Roman"/>
              </a:rPr>
              <a:t> Búsqueda Avanzada y Filtros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RF09.</a:t>
            </a:r>
            <a:r>
              <a:rPr lang="en" sz="1400">
                <a:solidFill>
                  <a:srgbClr val="000000"/>
                </a:solidFill>
                <a:latin typeface="Times New Roman"/>
                <a:ea typeface="Times New Roman"/>
                <a:cs typeface="Times New Roman"/>
                <a:sym typeface="Times New Roman"/>
              </a:rPr>
              <a:t> Página de Producto Detallada</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RF10.</a:t>
            </a:r>
            <a:r>
              <a:rPr lang="en" sz="1400">
                <a:solidFill>
                  <a:srgbClr val="000000"/>
                </a:solidFill>
                <a:latin typeface="Times New Roman"/>
                <a:ea typeface="Times New Roman"/>
                <a:cs typeface="Times New Roman"/>
                <a:sym typeface="Times New Roman"/>
              </a:rPr>
              <a:t> Artículos Destacados y Colecciones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RF11.</a:t>
            </a:r>
            <a:r>
              <a:rPr lang="en" sz="1400">
                <a:solidFill>
                  <a:srgbClr val="000000"/>
                </a:solidFill>
                <a:latin typeface="Times New Roman"/>
                <a:ea typeface="Times New Roman"/>
                <a:cs typeface="Times New Roman"/>
                <a:sym typeface="Times New Roman"/>
              </a:rPr>
              <a:t> Checkout y Cálculo de Totales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RF12.</a:t>
            </a:r>
            <a:r>
              <a:rPr lang="en" sz="1400">
                <a:solidFill>
                  <a:srgbClr val="000000"/>
                </a:solidFill>
                <a:latin typeface="Times New Roman"/>
                <a:ea typeface="Times New Roman"/>
                <a:cs typeface="Times New Roman"/>
                <a:sym typeface="Times New Roman"/>
              </a:rPr>
              <a:t> Integración con Pasarelas de Pago</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t/>
            </a:r>
            <a:endParaRPr sz="1600">
              <a:latin typeface="Times New Roman"/>
              <a:ea typeface="Times New Roman"/>
              <a:cs typeface="Times New Roman"/>
              <a:sym typeface="Times New Roman"/>
            </a:endParaRPr>
          </a:p>
        </p:txBody>
      </p:sp>
      <p:sp>
        <p:nvSpPr>
          <p:cNvPr id="235" name="Google Shape;235;g3adf68df09e_3_0"/>
          <p:cNvSpPr txBox="1"/>
          <p:nvPr>
            <p:ph idx="1" type="body"/>
          </p:nvPr>
        </p:nvSpPr>
        <p:spPr>
          <a:xfrm>
            <a:off x="5561000" y="1645500"/>
            <a:ext cx="3157500" cy="349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RF13.</a:t>
            </a:r>
            <a:r>
              <a:rPr lang="en" sz="1400">
                <a:solidFill>
                  <a:srgbClr val="000000"/>
                </a:solidFill>
                <a:latin typeface="Times New Roman"/>
                <a:ea typeface="Times New Roman"/>
                <a:cs typeface="Times New Roman"/>
                <a:sym typeface="Times New Roman"/>
              </a:rPr>
              <a:t> Comprobantes</a:t>
            </a:r>
            <a:endParaRPr b="1"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RF14.</a:t>
            </a:r>
            <a:r>
              <a:rPr lang="en" sz="1400">
                <a:solidFill>
                  <a:srgbClr val="000000"/>
                </a:solidFill>
                <a:latin typeface="Times New Roman"/>
                <a:ea typeface="Times New Roman"/>
                <a:cs typeface="Times New Roman"/>
                <a:sym typeface="Times New Roman"/>
              </a:rPr>
              <a:t> Gestión de Pedidos (Estados)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RF15.</a:t>
            </a:r>
            <a:r>
              <a:rPr lang="en" sz="1400">
                <a:solidFill>
                  <a:srgbClr val="000000"/>
                </a:solidFill>
                <a:latin typeface="Times New Roman"/>
                <a:ea typeface="Times New Roman"/>
                <a:cs typeface="Times New Roman"/>
                <a:sym typeface="Times New Roman"/>
              </a:rPr>
              <a:t> Gestión de Despachos y Logística</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RF16.</a:t>
            </a:r>
            <a:r>
              <a:rPr lang="en" sz="1400">
                <a:solidFill>
                  <a:srgbClr val="000000"/>
                </a:solidFill>
                <a:latin typeface="Times New Roman"/>
                <a:ea typeface="Times New Roman"/>
                <a:cs typeface="Times New Roman"/>
                <a:sym typeface="Times New Roman"/>
              </a:rPr>
              <a:t> Política de Devoluciones y Reembolsos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RF17.</a:t>
            </a:r>
            <a:r>
              <a:rPr lang="en" sz="1400">
                <a:solidFill>
                  <a:srgbClr val="000000"/>
                </a:solidFill>
                <a:latin typeface="Times New Roman"/>
                <a:ea typeface="Times New Roman"/>
                <a:cs typeface="Times New Roman"/>
                <a:sym typeface="Times New Roman"/>
              </a:rPr>
              <a:t> Integración con Redes Sociales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RF18.</a:t>
            </a:r>
            <a:r>
              <a:rPr lang="en" sz="1400">
                <a:solidFill>
                  <a:srgbClr val="000000"/>
                </a:solidFill>
                <a:latin typeface="Times New Roman"/>
                <a:ea typeface="Times New Roman"/>
                <a:cs typeface="Times New Roman"/>
                <a:sym typeface="Times New Roman"/>
              </a:rPr>
              <a:t> Opiniones y Calificaciones de Productos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RF19.</a:t>
            </a:r>
            <a:r>
              <a:rPr lang="en" sz="1400">
                <a:solidFill>
                  <a:srgbClr val="000000"/>
                </a:solidFill>
                <a:latin typeface="Times New Roman"/>
                <a:ea typeface="Times New Roman"/>
                <a:cs typeface="Times New Roman"/>
                <a:sym typeface="Times New Roman"/>
              </a:rPr>
              <a:t> Historial de Compras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RF20.</a:t>
            </a:r>
            <a:r>
              <a:rPr lang="en" sz="1400">
                <a:solidFill>
                  <a:srgbClr val="000000"/>
                </a:solidFill>
                <a:latin typeface="Times New Roman"/>
                <a:ea typeface="Times New Roman"/>
                <a:cs typeface="Times New Roman"/>
                <a:sym typeface="Times New Roman"/>
              </a:rPr>
              <a:t> Notificaciones (Email/SMS)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RF21.</a:t>
            </a:r>
            <a:r>
              <a:rPr lang="en" sz="1400">
                <a:solidFill>
                  <a:srgbClr val="000000"/>
                </a:solidFill>
                <a:latin typeface="Times New Roman"/>
                <a:ea typeface="Times New Roman"/>
                <a:cs typeface="Times New Roman"/>
                <a:sym typeface="Times New Roman"/>
              </a:rPr>
              <a:t> Internacionalización y Monedas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RF22.</a:t>
            </a:r>
            <a:r>
              <a:rPr lang="en" sz="1400">
                <a:solidFill>
                  <a:srgbClr val="000000"/>
                </a:solidFill>
                <a:latin typeface="Times New Roman"/>
                <a:ea typeface="Times New Roman"/>
                <a:cs typeface="Times New Roman"/>
                <a:sym typeface="Times New Roman"/>
              </a:rPr>
              <a:t> Importación/Exportación de Datos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400">
                <a:solidFill>
                  <a:srgbClr val="000000"/>
                </a:solidFill>
                <a:latin typeface="Times New Roman"/>
                <a:ea typeface="Times New Roman"/>
                <a:cs typeface="Times New Roman"/>
                <a:sym typeface="Times New Roman"/>
              </a:rPr>
              <a:t>RF23.</a:t>
            </a:r>
            <a:r>
              <a:rPr lang="en" sz="1400">
                <a:solidFill>
                  <a:srgbClr val="000000"/>
                </a:solidFill>
                <a:latin typeface="Times New Roman"/>
                <a:ea typeface="Times New Roman"/>
                <a:cs typeface="Times New Roman"/>
                <a:sym typeface="Times New Roman"/>
              </a:rPr>
              <a:t> APIs e Integraciones Externas</a:t>
            </a:r>
            <a:endParaRPr b="1" sz="1400">
              <a:solidFill>
                <a:srgbClr val="000000"/>
              </a:solidFill>
              <a:latin typeface="Times New Roman"/>
              <a:ea typeface="Times New Roman"/>
              <a:cs typeface="Times New Roman"/>
              <a:sym typeface="Times New Roman"/>
            </a:endParaRPr>
          </a:p>
        </p:txBody>
      </p:sp>
      <p:pic>
        <p:nvPicPr>
          <p:cNvPr descr="Gobierno SENA" id="236" name="Google Shape;236;g3adf68df09e_3_0"/>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adf68df09e_3_9"/>
          <p:cNvSpPr txBox="1"/>
          <p:nvPr>
            <p:ph type="title"/>
          </p:nvPr>
        </p:nvSpPr>
        <p:spPr>
          <a:xfrm>
            <a:off x="372500" y="13096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3240">
                <a:latin typeface="Lato"/>
                <a:ea typeface="Lato"/>
                <a:cs typeface="Lato"/>
                <a:sym typeface="Lato"/>
              </a:rPr>
              <a:t>Requisitos No Funcionales (RNF)</a:t>
            </a:r>
            <a:endParaRPr sz="3240">
              <a:latin typeface="Lato"/>
              <a:ea typeface="Lato"/>
              <a:cs typeface="Lato"/>
              <a:sym typeface="Lato"/>
            </a:endParaRPr>
          </a:p>
        </p:txBody>
      </p:sp>
      <p:sp>
        <p:nvSpPr>
          <p:cNvPr id="242" name="Google Shape;242;g3adf68df09e_3_9"/>
          <p:cNvSpPr txBox="1"/>
          <p:nvPr>
            <p:ph idx="1" type="body"/>
          </p:nvPr>
        </p:nvSpPr>
        <p:spPr>
          <a:xfrm>
            <a:off x="829775" y="1937875"/>
            <a:ext cx="7688700" cy="274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RNF01.</a:t>
            </a:r>
            <a:r>
              <a:rPr lang="en" sz="2000">
                <a:solidFill>
                  <a:srgbClr val="000000"/>
                </a:solidFill>
                <a:latin typeface="Times New Roman"/>
                <a:ea typeface="Times New Roman"/>
                <a:cs typeface="Times New Roman"/>
                <a:sym typeface="Times New Roman"/>
              </a:rPr>
              <a:t> Interfaz, accesibilidad y diseño responsivo</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RNF02.</a:t>
            </a:r>
            <a:r>
              <a:rPr lang="en" sz="2000">
                <a:solidFill>
                  <a:srgbClr val="000000"/>
                </a:solidFill>
                <a:latin typeface="Times New Roman"/>
                <a:ea typeface="Times New Roman"/>
                <a:cs typeface="Times New Roman"/>
                <a:sym typeface="Times New Roman"/>
              </a:rPr>
              <a:t> Ayuda en el uso del sistema</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RNF03.</a:t>
            </a:r>
            <a:r>
              <a:rPr lang="en" sz="2000">
                <a:solidFill>
                  <a:srgbClr val="000000"/>
                </a:solidFill>
                <a:latin typeface="Times New Roman"/>
                <a:ea typeface="Times New Roman"/>
                <a:cs typeface="Times New Roman"/>
                <a:sym typeface="Times New Roman"/>
              </a:rPr>
              <a:t> Rendimiento</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RNF04.</a:t>
            </a:r>
            <a:r>
              <a:rPr lang="en" sz="2000">
                <a:solidFill>
                  <a:srgbClr val="000000"/>
                </a:solidFill>
                <a:latin typeface="Times New Roman"/>
                <a:ea typeface="Times New Roman"/>
                <a:cs typeface="Times New Roman"/>
                <a:sym typeface="Times New Roman"/>
              </a:rPr>
              <a:t> Seguridad y protección de datos</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RNF05.</a:t>
            </a:r>
            <a:r>
              <a:rPr lang="en" sz="2000">
                <a:solidFill>
                  <a:srgbClr val="000000"/>
                </a:solidFill>
                <a:latin typeface="Times New Roman"/>
                <a:ea typeface="Times New Roman"/>
                <a:cs typeface="Times New Roman"/>
                <a:sym typeface="Times New Roman"/>
              </a:rPr>
              <a:t> Disponibilidad</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RNF06.</a:t>
            </a:r>
            <a:r>
              <a:rPr lang="en" sz="2000">
                <a:solidFill>
                  <a:srgbClr val="000000"/>
                </a:solidFill>
                <a:latin typeface="Times New Roman"/>
                <a:ea typeface="Times New Roman"/>
                <a:cs typeface="Times New Roman"/>
                <a:sym typeface="Times New Roman"/>
              </a:rPr>
              <a:t> Respaldo y recuperación</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RNF07.</a:t>
            </a:r>
            <a:r>
              <a:rPr lang="en" sz="2000">
                <a:solidFill>
                  <a:srgbClr val="000000"/>
                </a:solidFill>
                <a:latin typeface="Times New Roman"/>
                <a:ea typeface="Times New Roman"/>
                <a:cs typeface="Times New Roman"/>
                <a:sym typeface="Times New Roman"/>
              </a:rPr>
              <a:t> Compatibilidad</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RNF08.</a:t>
            </a:r>
            <a:r>
              <a:rPr lang="en" sz="2000">
                <a:solidFill>
                  <a:srgbClr val="000000"/>
                </a:solidFill>
                <a:latin typeface="Times New Roman"/>
                <a:ea typeface="Times New Roman"/>
                <a:cs typeface="Times New Roman"/>
                <a:sym typeface="Times New Roman"/>
              </a:rPr>
              <a:t> Mantenibilidad</a:t>
            </a:r>
            <a:endParaRPr sz="20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2000">
                <a:solidFill>
                  <a:srgbClr val="000000"/>
                </a:solidFill>
                <a:latin typeface="Times New Roman"/>
                <a:ea typeface="Times New Roman"/>
                <a:cs typeface="Times New Roman"/>
                <a:sym typeface="Times New Roman"/>
              </a:rPr>
              <a:t>RNF09.</a:t>
            </a:r>
            <a:r>
              <a:rPr lang="en" sz="2000">
                <a:solidFill>
                  <a:srgbClr val="000000"/>
                </a:solidFill>
                <a:latin typeface="Times New Roman"/>
                <a:ea typeface="Times New Roman"/>
                <a:cs typeface="Times New Roman"/>
                <a:sym typeface="Times New Roman"/>
              </a:rPr>
              <a:t> Escalabilidad</a:t>
            </a:r>
            <a:endParaRPr sz="2000">
              <a:latin typeface="Times New Roman"/>
              <a:ea typeface="Times New Roman"/>
              <a:cs typeface="Times New Roman"/>
              <a:sym typeface="Times New Roman"/>
            </a:endParaRPr>
          </a:p>
        </p:txBody>
      </p:sp>
      <p:pic>
        <p:nvPicPr>
          <p:cNvPr descr="Gobierno SENA" id="243" name="Google Shape;243;g3adf68df09e_3_9"/>
          <p:cNvPicPr preferRelativeResize="0"/>
          <p:nvPr/>
        </p:nvPicPr>
        <p:blipFill rotWithShape="1">
          <a:blip r:embed="rId3">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9"/>
          <p:cNvSpPr txBox="1"/>
          <p:nvPr>
            <p:ph type="title"/>
          </p:nvPr>
        </p:nvSpPr>
        <p:spPr>
          <a:xfrm>
            <a:off x="495650" y="37617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40">
                <a:latin typeface="Lato"/>
                <a:ea typeface="Lato"/>
                <a:cs typeface="Lato"/>
                <a:sym typeface="Lato"/>
              </a:rPr>
              <a:t>BPMN</a:t>
            </a:r>
            <a:endParaRPr sz="3240">
              <a:latin typeface="Lato"/>
              <a:ea typeface="Lato"/>
              <a:cs typeface="Lato"/>
              <a:sym typeface="Lato"/>
            </a:endParaRPr>
          </a:p>
        </p:txBody>
      </p:sp>
      <p:pic>
        <p:nvPicPr>
          <p:cNvPr id="249" name="Google Shape;249;p19"/>
          <p:cNvPicPr preferRelativeResize="0"/>
          <p:nvPr/>
        </p:nvPicPr>
        <p:blipFill rotWithShape="1">
          <a:blip r:embed="rId3">
            <a:alphaModFix/>
          </a:blip>
          <a:srcRect b="0" l="0" r="0" t="0"/>
          <a:stretch/>
        </p:blipFill>
        <p:spPr>
          <a:xfrm>
            <a:off x="727300" y="880125"/>
            <a:ext cx="6883876" cy="4195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9161e987db_2_45"/>
          <p:cNvSpPr txBox="1"/>
          <p:nvPr>
            <p:ph type="title"/>
          </p:nvPr>
        </p:nvSpPr>
        <p:spPr>
          <a:xfrm>
            <a:off x="2962325" y="565925"/>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3240">
                <a:latin typeface="Lato"/>
                <a:ea typeface="Lato"/>
                <a:cs typeface="Lato"/>
                <a:sym typeface="Lato"/>
              </a:rPr>
              <a:t>Normalización</a:t>
            </a:r>
            <a:endParaRPr sz="3240">
              <a:latin typeface="Lato"/>
              <a:ea typeface="Lato"/>
              <a:cs typeface="Lato"/>
              <a:sym typeface="Lato"/>
            </a:endParaRPr>
          </a:p>
        </p:txBody>
      </p:sp>
      <p:pic>
        <p:nvPicPr>
          <p:cNvPr id="255" name="Google Shape;255;g39161e987db_2_45"/>
          <p:cNvPicPr preferRelativeResize="0"/>
          <p:nvPr/>
        </p:nvPicPr>
        <p:blipFill rotWithShape="1">
          <a:blip r:embed="rId3">
            <a:alphaModFix/>
          </a:blip>
          <a:srcRect b="0" l="0" r="0" t="0"/>
          <a:stretch/>
        </p:blipFill>
        <p:spPr>
          <a:xfrm>
            <a:off x="181975" y="1548075"/>
            <a:ext cx="8839199" cy="930958"/>
          </a:xfrm>
          <a:prstGeom prst="rect">
            <a:avLst/>
          </a:prstGeom>
          <a:noFill/>
          <a:ln>
            <a:noFill/>
          </a:ln>
        </p:spPr>
      </p:pic>
      <p:pic>
        <p:nvPicPr>
          <p:cNvPr id="256" name="Google Shape;256;g39161e987db_2_45"/>
          <p:cNvPicPr preferRelativeResize="0"/>
          <p:nvPr/>
        </p:nvPicPr>
        <p:blipFill rotWithShape="1">
          <a:blip r:embed="rId4">
            <a:alphaModFix/>
          </a:blip>
          <a:srcRect b="0" l="0" r="0" t="0"/>
          <a:stretch/>
        </p:blipFill>
        <p:spPr>
          <a:xfrm>
            <a:off x="152400" y="2852575"/>
            <a:ext cx="8839201" cy="990275"/>
          </a:xfrm>
          <a:prstGeom prst="rect">
            <a:avLst/>
          </a:prstGeom>
          <a:noFill/>
          <a:ln>
            <a:noFill/>
          </a:ln>
        </p:spPr>
      </p:pic>
      <p:pic>
        <p:nvPicPr>
          <p:cNvPr id="257" name="Google Shape;257;g39161e987db_2_45"/>
          <p:cNvPicPr preferRelativeResize="0"/>
          <p:nvPr/>
        </p:nvPicPr>
        <p:blipFill rotWithShape="1">
          <a:blip r:embed="rId5">
            <a:alphaModFix/>
          </a:blip>
          <a:srcRect b="0" l="0" r="0" t="0"/>
          <a:stretch/>
        </p:blipFill>
        <p:spPr>
          <a:xfrm>
            <a:off x="152400" y="3995250"/>
            <a:ext cx="8839199" cy="772031"/>
          </a:xfrm>
          <a:prstGeom prst="rect">
            <a:avLst/>
          </a:prstGeom>
          <a:noFill/>
          <a:ln>
            <a:noFill/>
          </a:ln>
        </p:spPr>
      </p:pic>
      <p:sp>
        <p:nvSpPr>
          <p:cNvPr id="258" name="Google Shape;258;g39161e987db_2_45"/>
          <p:cNvSpPr txBox="1"/>
          <p:nvPr/>
        </p:nvSpPr>
        <p:spPr>
          <a:xfrm>
            <a:off x="2914925" y="1101125"/>
            <a:ext cx="3256200" cy="3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000000"/>
                </a:solidFill>
                <a:latin typeface="Times New Roman"/>
                <a:ea typeface="Times New Roman"/>
                <a:cs typeface="Times New Roman"/>
                <a:sym typeface="Times New Roman"/>
              </a:rPr>
              <a:t>Tabla sin normalizar</a:t>
            </a:r>
            <a:endParaRPr b="0" i="0" sz="2800" u="none" cap="none" strike="noStrike">
              <a:solidFill>
                <a:srgbClr val="000000"/>
              </a:solidFill>
              <a:latin typeface="Times New Roman"/>
              <a:ea typeface="Times New Roman"/>
              <a:cs typeface="Times New Roman"/>
              <a:sym typeface="Times New Roman"/>
            </a:endParaRPr>
          </a:p>
        </p:txBody>
      </p:sp>
      <p:sp>
        <p:nvSpPr>
          <p:cNvPr id="259" name="Google Shape;259;g39161e987db_2_45"/>
          <p:cNvSpPr txBox="1"/>
          <p:nvPr/>
        </p:nvSpPr>
        <p:spPr>
          <a:xfrm>
            <a:off x="3093650" y="2489275"/>
            <a:ext cx="2593800" cy="3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Times New Roman"/>
                <a:ea typeface="Times New Roman"/>
                <a:cs typeface="Times New Roman"/>
                <a:sym typeface="Times New Roman"/>
              </a:rPr>
              <a:t>1 FN</a:t>
            </a:r>
            <a:endParaRPr b="1" i="0" sz="1500" u="none" cap="none" strike="noStrike">
              <a:solidFill>
                <a:srgbClr val="000000"/>
              </a:solidFill>
              <a:latin typeface="Times New Roman"/>
              <a:ea typeface="Times New Roman"/>
              <a:cs typeface="Times New Roman"/>
              <a:sym typeface="Times New Roman"/>
            </a:endParaRPr>
          </a:p>
        </p:txBody>
      </p:sp>
      <p:pic>
        <p:nvPicPr>
          <p:cNvPr descr="Gobierno SENA" id="260" name="Google Shape;260;g39161e987db_2_45"/>
          <p:cNvPicPr preferRelativeResize="0"/>
          <p:nvPr/>
        </p:nvPicPr>
        <p:blipFill rotWithShape="1">
          <a:blip r:embed="rId6">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9161e987db_2_59"/>
          <p:cNvSpPr txBox="1"/>
          <p:nvPr/>
        </p:nvSpPr>
        <p:spPr>
          <a:xfrm>
            <a:off x="2532550" y="708950"/>
            <a:ext cx="5110500" cy="3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000000"/>
                </a:solidFill>
                <a:latin typeface="Lato"/>
                <a:ea typeface="Lato"/>
                <a:cs typeface="Lato"/>
                <a:sym typeface="Lato"/>
              </a:rPr>
              <a:t>Segunda forma normal</a:t>
            </a:r>
            <a:endParaRPr b="1" i="0" sz="3200" u="none" cap="none" strike="noStrike">
              <a:solidFill>
                <a:srgbClr val="000000"/>
              </a:solidFill>
              <a:latin typeface="Lato"/>
              <a:ea typeface="Lato"/>
              <a:cs typeface="Lato"/>
              <a:sym typeface="Lato"/>
            </a:endParaRPr>
          </a:p>
        </p:txBody>
      </p:sp>
      <p:pic>
        <p:nvPicPr>
          <p:cNvPr id="266" name="Google Shape;266;g39161e987db_2_59"/>
          <p:cNvPicPr preferRelativeResize="0"/>
          <p:nvPr/>
        </p:nvPicPr>
        <p:blipFill rotWithShape="1">
          <a:blip r:embed="rId3">
            <a:alphaModFix/>
          </a:blip>
          <a:srcRect b="0" l="0" r="0" t="0"/>
          <a:stretch/>
        </p:blipFill>
        <p:spPr>
          <a:xfrm>
            <a:off x="152400" y="1320050"/>
            <a:ext cx="8839199" cy="1367859"/>
          </a:xfrm>
          <a:prstGeom prst="rect">
            <a:avLst/>
          </a:prstGeom>
          <a:noFill/>
          <a:ln>
            <a:noFill/>
          </a:ln>
        </p:spPr>
      </p:pic>
      <p:pic>
        <p:nvPicPr>
          <p:cNvPr id="267" name="Google Shape;267;g39161e987db_2_59"/>
          <p:cNvPicPr preferRelativeResize="0"/>
          <p:nvPr/>
        </p:nvPicPr>
        <p:blipFill rotWithShape="1">
          <a:blip r:embed="rId4">
            <a:alphaModFix/>
          </a:blip>
          <a:srcRect b="0" l="0" r="0" t="0"/>
          <a:stretch/>
        </p:blipFill>
        <p:spPr>
          <a:xfrm>
            <a:off x="152400" y="2840309"/>
            <a:ext cx="8839201" cy="1710470"/>
          </a:xfrm>
          <a:prstGeom prst="rect">
            <a:avLst/>
          </a:prstGeom>
          <a:noFill/>
          <a:ln>
            <a:noFill/>
          </a:ln>
        </p:spPr>
      </p:pic>
      <p:pic>
        <p:nvPicPr>
          <p:cNvPr descr="Gobierno SENA" id="268" name="Google Shape;268;g39161e987db_2_59"/>
          <p:cNvPicPr preferRelativeResize="0"/>
          <p:nvPr/>
        </p:nvPicPr>
        <p:blipFill rotWithShape="1">
          <a:blip r:embed="rId5">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9161e987db_2_66"/>
          <p:cNvSpPr txBox="1"/>
          <p:nvPr/>
        </p:nvSpPr>
        <p:spPr>
          <a:xfrm>
            <a:off x="2532525" y="756675"/>
            <a:ext cx="4844700" cy="36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000000"/>
                </a:solidFill>
                <a:latin typeface="Lato"/>
                <a:ea typeface="Lato"/>
                <a:cs typeface="Lato"/>
                <a:sym typeface="Lato"/>
              </a:rPr>
              <a:t>Tercera forma normal</a:t>
            </a:r>
            <a:endParaRPr b="1" i="0" sz="3200" u="none" cap="none" strike="noStrike">
              <a:solidFill>
                <a:srgbClr val="000000"/>
              </a:solidFill>
              <a:latin typeface="Lato"/>
              <a:ea typeface="Lato"/>
              <a:cs typeface="Lato"/>
              <a:sym typeface="Lato"/>
            </a:endParaRPr>
          </a:p>
        </p:txBody>
      </p:sp>
      <p:pic>
        <p:nvPicPr>
          <p:cNvPr id="274" name="Google Shape;274;g39161e987db_2_66"/>
          <p:cNvPicPr preferRelativeResize="0"/>
          <p:nvPr/>
        </p:nvPicPr>
        <p:blipFill rotWithShape="1">
          <a:blip r:embed="rId3">
            <a:alphaModFix/>
          </a:blip>
          <a:srcRect b="0" l="0" r="0" t="0"/>
          <a:stretch/>
        </p:blipFill>
        <p:spPr>
          <a:xfrm>
            <a:off x="152400" y="1320050"/>
            <a:ext cx="8839200" cy="1785697"/>
          </a:xfrm>
          <a:prstGeom prst="rect">
            <a:avLst/>
          </a:prstGeom>
          <a:noFill/>
          <a:ln>
            <a:noFill/>
          </a:ln>
        </p:spPr>
      </p:pic>
      <p:pic>
        <p:nvPicPr>
          <p:cNvPr id="275" name="Google Shape;275;g39161e987db_2_66"/>
          <p:cNvPicPr preferRelativeResize="0"/>
          <p:nvPr/>
        </p:nvPicPr>
        <p:blipFill rotWithShape="1">
          <a:blip r:embed="rId4">
            <a:alphaModFix/>
          </a:blip>
          <a:srcRect b="0" l="0" r="0" t="0"/>
          <a:stretch/>
        </p:blipFill>
        <p:spPr>
          <a:xfrm>
            <a:off x="152400" y="3258147"/>
            <a:ext cx="8839202" cy="1673135"/>
          </a:xfrm>
          <a:prstGeom prst="rect">
            <a:avLst/>
          </a:prstGeom>
          <a:noFill/>
          <a:ln>
            <a:noFill/>
          </a:ln>
        </p:spPr>
      </p:pic>
      <p:pic>
        <p:nvPicPr>
          <p:cNvPr descr="Gobierno SENA" id="276" name="Google Shape;276;g39161e987db_2_66"/>
          <p:cNvPicPr preferRelativeResize="0"/>
          <p:nvPr/>
        </p:nvPicPr>
        <p:blipFill rotWithShape="1">
          <a:blip r:embed="rId5">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adf68df09e_0_6"/>
          <p:cNvSpPr txBox="1"/>
          <p:nvPr>
            <p:ph type="title"/>
          </p:nvPr>
        </p:nvSpPr>
        <p:spPr>
          <a:xfrm>
            <a:off x="2056250" y="54550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00">
                <a:latin typeface="Lato"/>
                <a:ea typeface="Lato"/>
                <a:cs typeface="Lato"/>
                <a:sym typeface="Lato"/>
              </a:rPr>
              <a:t>Modelo entidad relación</a:t>
            </a:r>
            <a:endParaRPr sz="3200">
              <a:latin typeface="Lato"/>
              <a:ea typeface="Lato"/>
              <a:cs typeface="Lato"/>
              <a:sym typeface="Lato"/>
            </a:endParaRPr>
          </a:p>
        </p:txBody>
      </p:sp>
      <p:pic>
        <p:nvPicPr>
          <p:cNvPr id="282" name="Google Shape;282;g3adf68df09e_0_6" title="mer.jpeg"/>
          <p:cNvPicPr preferRelativeResize="0"/>
          <p:nvPr/>
        </p:nvPicPr>
        <p:blipFill rotWithShape="1">
          <a:blip r:embed="rId3">
            <a:alphaModFix/>
          </a:blip>
          <a:srcRect b="0" l="0" r="0" t="0"/>
          <a:stretch/>
        </p:blipFill>
        <p:spPr>
          <a:xfrm>
            <a:off x="1283188" y="1266850"/>
            <a:ext cx="6577629" cy="3730749"/>
          </a:xfrm>
          <a:prstGeom prst="rect">
            <a:avLst/>
          </a:prstGeom>
          <a:noFill/>
          <a:ln>
            <a:noFill/>
          </a:ln>
        </p:spPr>
      </p:pic>
      <p:pic>
        <p:nvPicPr>
          <p:cNvPr descr="Gobierno SENA" id="283" name="Google Shape;283;g3adf68df09e_0_6"/>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9161e987db_2_1"/>
          <p:cNvSpPr txBox="1"/>
          <p:nvPr>
            <p:ph type="title"/>
          </p:nvPr>
        </p:nvSpPr>
        <p:spPr>
          <a:xfrm>
            <a:off x="1736050" y="660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3200">
                <a:latin typeface="Lato"/>
                <a:ea typeface="Lato"/>
                <a:cs typeface="Lato"/>
                <a:sym typeface="Lato"/>
              </a:rPr>
              <a:t>Diccionario de datos</a:t>
            </a:r>
            <a:endParaRPr sz="3200">
              <a:latin typeface="Lato"/>
              <a:ea typeface="Lato"/>
              <a:cs typeface="Lato"/>
              <a:sym typeface="Lato"/>
            </a:endParaRPr>
          </a:p>
        </p:txBody>
      </p:sp>
      <p:pic>
        <p:nvPicPr>
          <p:cNvPr id="289" name="Google Shape;289;g39161e987db_2_1"/>
          <p:cNvPicPr preferRelativeResize="0"/>
          <p:nvPr/>
        </p:nvPicPr>
        <p:blipFill rotWithShape="1">
          <a:blip r:embed="rId3">
            <a:alphaModFix/>
          </a:blip>
          <a:srcRect b="0" l="0" r="0" t="0"/>
          <a:stretch/>
        </p:blipFill>
        <p:spPr>
          <a:xfrm>
            <a:off x="437925" y="1222900"/>
            <a:ext cx="8268160" cy="3649949"/>
          </a:xfrm>
          <a:prstGeom prst="rect">
            <a:avLst/>
          </a:prstGeom>
          <a:noFill/>
          <a:ln>
            <a:noFill/>
          </a:ln>
        </p:spPr>
      </p:pic>
      <p:pic>
        <p:nvPicPr>
          <p:cNvPr descr="Gobierno SENA" id="290" name="Google Shape;290;g39161e987db_2_1"/>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g39161e987db_2_19"/>
          <p:cNvPicPr preferRelativeResize="0"/>
          <p:nvPr/>
        </p:nvPicPr>
        <p:blipFill rotWithShape="1">
          <a:blip r:embed="rId3">
            <a:alphaModFix/>
          </a:blip>
          <a:srcRect b="0" l="0" r="0" t="0"/>
          <a:stretch/>
        </p:blipFill>
        <p:spPr>
          <a:xfrm>
            <a:off x="152400" y="1399100"/>
            <a:ext cx="8839200" cy="3217297"/>
          </a:xfrm>
          <a:prstGeom prst="rect">
            <a:avLst/>
          </a:prstGeom>
          <a:noFill/>
          <a:ln>
            <a:noFill/>
          </a:ln>
        </p:spPr>
      </p:pic>
      <p:pic>
        <p:nvPicPr>
          <p:cNvPr descr="Gobierno SENA" id="296" name="Google Shape;296;g39161e987db_2_19"/>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
        <p:nvSpPr>
          <p:cNvPr id="297" name="Google Shape;297;g39161e987db_2_19"/>
          <p:cNvSpPr txBox="1"/>
          <p:nvPr>
            <p:ph idx="4294967295" type="title"/>
          </p:nvPr>
        </p:nvSpPr>
        <p:spPr>
          <a:xfrm>
            <a:off x="1736050" y="660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latin typeface="Lato"/>
                <a:ea typeface="Lato"/>
                <a:cs typeface="Lato"/>
                <a:sym typeface="Lato"/>
              </a:rPr>
              <a:t>Diccionario de datos</a:t>
            </a:r>
            <a:endParaRPr sz="3200">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g39161e987db_2_11"/>
          <p:cNvPicPr preferRelativeResize="0"/>
          <p:nvPr/>
        </p:nvPicPr>
        <p:blipFill rotWithShape="1">
          <a:blip r:embed="rId3">
            <a:alphaModFix/>
          </a:blip>
          <a:srcRect b="0" l="0" r="0" t="0"/>
          <a:stretch/>
        </p:blipFill>
        <p:spPr>
          <a:xfrm>
            <a:off x="111525" y="1528525"/>
            <a:ext cx="8839198" cy="2925616"/>
          </a:xfrm>
          <a:prstGeom prst="rect">
            <a:avLst/>
          </a:prstGeom>
          <a:noFill/>
          <a:ln>
            <a:noFill/>
          </a:ln>
        </p:spPr>
      </p:pic>
      <p:sp>
        <p:nvSpPr>
          <p:cNvPr id="303" name="Google Shape;303;g39161e987db_2_11"/>
          <p:cNvSpPr txBox="1"/>
          <p:nvPr>
            <p:ph idx="4294967295" type="title"/>
          </p:nvPr>
        </p:nvSpPr>
        <p:spPr>
          <a:xfrm>
            <a:off x="1736050" y="660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latin typeface="Lato"/>
                <a:ea typeface="Lato"/>
                <a:cs typeface="Lato"/>
                <a:sym typeface="Lato"/>
              </a:rPr>
              <a:t>Diccionario de datos</a:t>
            </a:r>
            <a:endParaRPr sz="3200">
              <a:latin typeface="Lato"/>
              <a:ea typeface="Lato"/>
              <a:cs typeface="Lato"/>
              <a:sym typeface="Lato"/>
            </a:endParaRPr>
          </a:p>
        </p:txBody>
      </p:sp>
      <p:pic>
        <p:nvPicPr>
          <p:cNvPr descr="Gobierno SENA" id="304" name="Google Shape;304;g39161e987db_2_11"/>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g39161e987db_2_24"/>
          <p:cNvPicPr preferRelativeResize="0"/>
          <p:nvPr/>
        </p:nvPicPr>
        <p:blipFill rotWithShape="1">
          <a:blip r:embed="rId3">
            <a:alphaModFix/>
          </a:blip>
          <a:srcRect b="0" l="0" r="0" t="0"/>
          <a:stretch/>
        </p:blipFill>
        <p:spPr>
          <a:xfrm>
            <a:off x="152400" y="1176150"/>
            <a:ext cx="8839197" cy="3967349"/>
          </a:xfrm>
          <a:prstGeom prst="rect">
            <a:avLst/>
          </a:prstGeom>
          <a:noFill/>
          <a:ln>
            <a:noFill/>
          </a:ln>
        </p:spPr>
      </p:pic>
      <p:pic>
        <p:nvPicPr>
          <p:cNvPr descr="Gobierno SENA" id="310" name="Google Shape;310;g39161e987db_2_24"/>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
        <p:nvSpPr>
          <p:cNvPr id="311" name="Google Shape;311;g39161e987db_2_24"/>
          <p:cNvSpPr txBox="1"/>
          <p:nvPr>
            <p:ph idx="4294967295" type="title"/>
          </p:nvPr>
        </p:nvSpPr>
        <p:spPr>
          <a:xfrm>
            <a:off x="1736050" y="660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200">
                <a:latin typeface="Lato"/>
                <a:ea typeface="Lato"/>
                <a:cs typeface="Lato"/>
                <a:sym typeface="Lato"/>
              </a:rPr>
              <a:t>Diccionario de datos</a:t>
            </a:r>
            <a:endParaRPr sz="3200">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g39161e987db_2_28"/>
          <p:cNvPicPr preferRelativeResize="0"/>
          <p:nvPr/>
        </p:nvPicPr>
        <p:blipFill rotWithShape="1">
          <a:blip r:embed="rId3">
            <a:alphaModFix/>
          </a:blip>
          <a:srcRect b="0" l="0" r="0" t="0"/>
          <a:stretch/>
        </p:blipFill>
        <p:spPr>
          <a:xfrm>
            <a:off x="152400" y="152400"/>
            <a:ext cx="8839202" cy="1867437"/>
          </a:xfrm>
          <a:prstGeom prst="rect">
            <a:avLst/>
          </a:prstGeom>
          <a:noFill/>
          <a:ln>
            <a:noFill/>
          </a:ln>
        </p:spPr>
      </p:pic>
      <p:pic>
        <p:nvPicPr>
          <p:cNvPr id="317" name="Google Shape;317;g39161e987db_2_28"/>
          <p:cNvPicPr preferRelativeResize="0"/>
          <p:nvPr/>
        </p:nvPicPr>
        <p:blipFill rotWithShape="1">
          <a:blip r:embed="rId4">
            <a:alphaModFix/>
          </a:blip>
          <a:srcRect b="0" l="0" r="0" t="0"/>
          <a:stretch/>
        </p:blipFill>
        <p:spPr>
          <a:xfrm>
            <a:off x="496850" y="2054012"/>
            <a:ext cx="8150289" cy="281886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g39161e987db_2_33"/>
          <p:cNvPicPr preferRelativeResize="0"/>
          <p:nvPr/>
        </p:nvPicPr>
        <p:blipFill rotWithShape="1">
          <a:blip r:embed="rId3">
            <a:alphaModFix/>
          </a:blip>
          <a:srcRect b="0" l="0" r="0" t="0"/>
          <a:stretch/>
        </p:blipFill>
        <p:spPr>
          <a:xfrm>
            <a:off x="152400" y="497438"/>
            <a:ext cx="8839198" cy="414862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g39161e987db_2_37"/>
          <p:cNvPicPr preferRelativeResize="0"/>
          <p:nvPr/>
        </p:nvPicPr>
        <p:blipFill rotWithShape="1">
          <a:blip r:embed="rId3">
            <a:alphaModFix/>
          </a:blip>
          <a:srcRect b="0" l="0" r="0" t="0"/>
          <a:stretch/>
        </p:blipFill>
        <p:spPr>
          <a:xfrm>
            <a:off x="152400" y="1088988"/>
            <a:ext cx="8839201" cy="296553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g39161e987db_2_41"/>
          <p:cNvPicPr preferRelativeResize="0"/>
          <p:nvPr/>
        </p:nvPicPr>
        <p:blipFill rotWithShape="1">
          <a:blip r:embed="rId3">
            <a:alphaModFix/>
          </a:blip>
          <a:srcRect b="0" l="0" r="0" t="0"/>
          <a:stretch/>
        </p:blipFill>
        <p:spPr>
          <a:xfrm>
            <a:off x="152400" y="840263"/>
            <a:ext cx="8839201" cy="34629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0"/>
          <p:cNvSpPr txBox="1"/>
          <p:nvPr>
            <p:ph type="title"/>
          </p:nvPr>
        </p:nvSpPr>
        <p:spPr>
          <a:xfrm>
            <a:off x="1919850" y="6240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89"/>
              <a:buNone/>
            </a:pPr>
            <a:r>
              <a:rPr lang="en" sz="3200">
                <a:latin typeface="Lato"/>
                <a:ea typeface="Lato"/>
                <a:cs typeface="Lato"/>
                <a:sym typeface="Lato"/>
              </a:rPr>
              <a:t>Diagrama de clases</a:t>
            </a:r>
            <a:endParaRPr sz="3200">
              <a:latin typeface="Lato"/>
              <a:ea typeface="Lato"/>
              <a:cs typeface="Lato"/>
              <a:sym typeface="Lato"/>
            </a:endParaRPr>
          </a:p>
        </p:txBody>
      </p:sp>
      <p:pic>
        <p:nvPicPr>
          <p:cNvPr id="338" name="Google Shape;338;p20"/>
          <p:cNvPicPr preferRelativeResize="0"/>
          <p:nvPr/>
        </p:nvPicPr>
        <p:blipFill rotWithShape="1">
          <a:blip r:embed="rId3">
            <a:alphaModFix/>
          </a:blip>
          <a:srcRect b="0" l="0" r="0" t="0"/>
          <a:stretch/>
        </p:blipFill>
        <p:spPr>
          <a:xfrm>
            <a:off x="2581125" y="1159200"/>
            <a:ext cx="3981745" cy="3679500"/>
          </a:xfrm>
          <a:prstGeom prst="rect">
            <a:avLst/>
          </a:prstGeom>
          <a:noFill/>
          <a:ln>
            <a:noFill/>
          </a:ln>
        </p:spPr>
      </p:pic>
      <p:pic>
        <p:nvPicPr>
          <p:cNvPr descr="Gobierno SENA" id="339" name="Google Shape;339;p20"/>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1"/>
          <p:cNvSpPr txBox="1"/>
          <p:nvPr>
            <p:ph type="title"/>
          </p:nvPr>
        </p:nvSpPr>
        <p:spPr>
          <a:xfrm>
            <a:off x="1967525" y="53700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89"/>
              <a:buNone/>
            </a:pPr>
            <a:r>
              <a:rPr lang="en" sz="3200">
                <a:latin typeface="Lato"/>
                <a:ea typeface="Lato"/>
                <a:cs typeface="Lato"/>
                <a:sym typeface="Lato"/>
              </a:rPr>
              <a:t>Diagrama de despliegue</a:t>
            </a:r>
            <a:endParaRPr sz="3200">
              <a:latin typeface="Lato"/>
              <a:ea typeface="Lato"/>
              <a:cs typeface="Lato"/>
              <a:sym typeface="Lato"/>
            </a:endParaRPr>
          </a:p>
        </p:txBody>
      </p:sp>
      <p:pic>
        <p:nvPicPr>
          <p:cNvPr id="345" name="Google Shape;345;p21" title="Diagrama de despliegue  (2).png"/>
          <p:cNvPicPr preferRelativeResize="0"/>
          <p:nvPr/>
        </p:nvPicPr>
        <p:blipFill rotWithShape="1">
          <a:blip r:embed="rId3">
            <a:alphaModFix/>
          </a:blip>
          <a:srcRect b="0" l="0" r="0" t="3073"/>
          <a:stretch/>
        </p:blipFill>
        <p:spPr>
          <a:xfrm>
            <a:off x="152400" y="1339325"/>
            <a:ext cx="8839199" cy="2970100"/>
          </a:xfrm>
          <a:prstGeom prst="rect">
            <a:avLst/>
          </a:prstGeom>
          <a:noFill/>
          <a:ln>
            <a:noFill/>
          </a:ln>
        </p:spPr>
      </p:pic>
      <p:pic>
        <p:nvPicPr>
          <p:cNvPr descr="Gobierno SENA" id="346" name="Google Shape;346;p21"/>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2"/>
          <p:cNvSpPr txBox="1"/>
          <p:nvPr>
            <p:ph type="title"/>
          </p:nvPr>
        </p:nvSpPr>
        <p:spPr>
          <a:xfrm>
            <a:off x="1797225" y="58877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89"/>
              <a:buNone/>
            </a:pPr>
            <a:r>
              <a:rPr lang="en" sz="3200">
                <a:latin typeface="Lato"/>
                <a:ea typeface="Lato"/>
                <a:cs typeface="Lato"/>
                <a:sym typeface="Lato"/>
              </a:rPr>
              <a:t>Diagrama de casos de uso</a:t>
            </a:r>
            <a:endParaRPr sz="3200">
              <a:latin typeface="Lato"/>
              <a:ea typeface="Lato"/>
              <a:cs typeface="Lato"/>
              <a:sym typeface="Lato"/>
            </a:endParaRPr>
          </a:p>
        </p:txBody>
      </p:sp>
      <p:pic>
        <p:nvPicPr>
          <p:cNvPr id="352" name="Google Shape;352;p22"/>
          <p:cNvPicPr preferRelativeResize="0"/>
          <p:nvPr/>
        </p:nvPicPr>
        <p:blipFill rotWithShape="1">
          <a:blip r:embed="rId3">
            <a:alphaModFix/>
          </a:blip>
          <a:srcRect b="0" l="0" r="0" t="0"/>
          <a:stretch/>
        </p:blipFill>
        <p:spPr>
          <a:xfrm>
            <a:off x="1994525" y="1277325"/>
            <a:ext cx="5154952" cy="3694299"/>
          </a:xfrm>
          <a:prstGeom prst="rect">
            <a:avLst/>
          </a:prstGeom>
          <a:noFill/>
          <a:ln>
            <a:noFill/>
          </a:ln>
        </p:spPr>
      </p:pic>
      <p:pic>
        <p:nvPicPr>
          <p:cNvPr descr="Gobierno SENA" id="353" name="Google Shape;353;p22"/>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3"/>
          <p:cNvSpPr txBox="1"/>
          <p:nvPr>
            <p:ph type="title"/>
          </p:nvPr>
        </p:nvSpPr>
        <p:spPr>
          <a:xfrm>
            <a:off x="375200" y="12709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89"/>
              <a:buNone/>
            </a:pPr>
            <a:r>
              <a:rPr lang="en" sz="3200">
                <a:latin typeface="Lato"/>
                <a:ea typeface="Lato"/>
                <a:cs typeface="Lato"/>
                <a:sym typeface="Lato"/>
              </a:rPr>
              <a:t>Mock up</a:t>
            </a:r>
            <a:endParaRPr sz="3200">
              <a:latin typeface="Lato"/>
              <a:ea typeface="Lato"/>
              <a:cs typeface="Lato"/>
              <a:sym typeface="Lato"/>
            </a:endParaRPr>
          </a:p>
        </p:txBody>
      </p:sp>
      <p:sp>
        <p:nvSpPr>
          <p:cNvPr id="359" name="Google Shape;359;p23"/>
          <p:cNvSpPr txBox="1"/>
          <p:nvPr>
            <p:ph idx="1" type="body"/>
          </p:nvPr>
        </p:nvSpPr>
        <p:spPr>
          <a:xfrm>
            <a:off x="436525" y="20720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n" sz="2500" u="sng">
                <a:solidFill>
                  <a:srgbClr val="1155CC"/>
                </a:solidFill>
                <a:highlight>
                  <a:srgbClr val="FFFFFF"/>
                </a:highlight>
                <a:latin typeface="Times New Roman"/>
                <a:ea typeface="Times New Roman"/>
                <a:cs typeface="Times New Roman"/>
                <a:sym typeface="Times New Roman"/>
                <a:hlinkClick r:id="rId3">
                  <a:extLst>
                    <a:ext uri="{A12FA001-AC4F-418D-AE19-62706E023703}">
                      <ahyp:hlinkClr val="tx"/>
                    </a:ext>
                  </a:extLst>
                </a:hlinkClick>
              </a:rPr>
              <a:t>https://balsamiq.cloud/sjeui8x/p3s6hd4</a:t>
            </a:r>
            <a:endParaRPr sz="25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300"/>
              <a:buNone/>
            </a:pPr>
            <a:r>
              <a:t/>
            </a:r>
            <a:endParaRPr sz="1500">
              <a:solidFill>
                <a:schemeClr val="dk2"/>
              </a:solidFill>
              <a:latin typeface="Times New Roman"/>
              <a:ea typeface="Times New Roman"/>
              <a:cs typeface="Times New Roman"/>
              <a:sym typeface="Times New Roman"/>
            </a:endParaRPr>
          </a:p>
        </p:txBody>
      </p:sp>
      <p:pic>
        <p:nvPicPr>
          <p:cNvPr descr="Gobierno SENA" id="360" name="Google Shape;360;p23"/>
          <p:cNvPicPr preferRelativeResize="0"/>
          <p:nvPr/>
        </p:nvPicPr>
        <p:blipFill rotWithShape="1">
          <a:blip r:embed="rId4">
            <a:alphaModFix/>
          </a:blip>
          <a:srcRect b="0" l="0" r="0" t="0"/>
          <a:stretch/>
        </p:blipFill>
        <p:spPr>
          <a:xfrm>
            <a:off x="829775" y="430250"/>
            <a:ext cx="742075" cy="725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